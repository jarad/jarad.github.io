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62" r:id="rId2"/>
    <p:sldId id="293" r:id="rId3"/>
    <p:sldId id="301" r:id="rId4"/>
    <p:sldId id="268" r:id="rId5"/>
    <p:sldId id="303" r:id="rId6"/>
    <p:sldId id="297" r:id="rId7"/>
    <p:sldId id="270" r:id="rId8"/>
    <p:sldId id="269" r:id="rId9"/>
    <p:sldId id="292" r:id="rId10"/>
    <p:sldId id="302" r:id="rId11"/>
    <p:sldId id="260" r:id="rId12"/>
    <p:sldId id="295" r:id="rId13"/>
    <p:sldId id="298" r:id="rId14"/>
    <p:sldId id="294" r:id="rId15"/>
    <p:sldId id="299" r:id="rId16"/>
    <p:sldId id="296" r:id="rId17"/>
    <p:sldId id="300" r:id="rId18"/>
    <p:sldId id="271" r:id="rId19"/>
    <p:sldId id="272" r:id="rId20"/>
    <p:sldId id="273" r:id="rId21"/>
    <p:sldId id="275" r:id="rId22"/>
    <p:sldId id="277" r:id="rId23"/>
    <p:sldId id="304" r:id="rId24"/>
    <p:sldId id="263" r:id="rId25"/>
    <p:sldId id="266" r:id="rId26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BE48"/>
    <a:srgbClr val="C8102E"/>
    <a:srgbClr val="ACA39A"/>
    <a:srgbClr val="7A6E67"/>
    <a:srgbClr val="CE1126"/>
    <a:srgbClr val="6E6259"/>
    <a:srgbClr val="010000"/>
    <a:srgbClr val="F2BF49"/>
    <a:srgbClr val="ADA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892" autoAdjust="0"/>
    <p:restoredTop sz="86438" autoAdjust="0"/>
  </p:normalViewPr>
  <p:slideViewPr>
    <p:cSldViewPr>
      <p:cViewPr varScale="1">
        <p:scale>
          <a:sx n="101" d="100"/>
          <a:sy n="101" d="100"/>
        </p:scale>
        <p:origin x="192" y="904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55A0C9-E830-1241-BEA3-6925DA004ECF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84522-76EF-EF4D-8870-07F3436BA4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902411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845082-6AF3-024B-A14D-C5AD8123919E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6D18E-8B09-B24B-9169-4FC527B8D8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79256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648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00D6D-9C4F-E9FF-65DF-7FDFF6572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7A9DFD-ED54-5C8B-8458-E9BDC5B0F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A44DB3-9BBD-73AD-FA13-5EE51345A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E3BCD-F558-A357-473F-13F8BB11E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372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9F2F1-8F34-D456-1B93-CD516DC0A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65C5F7-8944-B73F-B1AB-14CB80C33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69F18E-8FC8-DC55-DF95-A30AF89B8F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4B82F-E068-0145-C8D3-E414A092C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805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fades in, red pops up. Only this page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0201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A77CB-90DE-C55E-8DF8-408B586F6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6A06CF-C75E-BA7C-FAB0-1F64E8BBFE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62E1A8-697F-8877-79F4-A198832AC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fades in, red pops up. Only this page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DDCA1-8262-B660-9D9E-D43338C9B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0197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E6EB5-F665-B731-0B5F-F84E360B1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4F790-E335-DCA1-483B-5B3A2991C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C9F807-7DEA-4EA2-AD3F-C63D510A4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8A18-974F-7A44-6117-1A2D3525F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8356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8BFBC-5260-57B3-E416-ACE64E734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6556AF-7EB2-2F95-BE2F-442DE7D58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2A488F-29E0-88EA-7B17-895E00852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fades in, red pops up. Only this page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2538F-FA0C-9DFA-E6C0-11DDE7ACD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2893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9CE21-ABCD-CD23-3ED1-A085DFF69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98292-3377-7486-2A95-1E458735B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47A26-9EAF-B589-3EFC-B8956EE5C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EA2C6-4A7D-9CAC-EDE7-5AE8A53E2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93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FDC34-226F-09BA-FAE7-5A34DDE1E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E8BA1B-6047-0CBD-18BF-B6B84D176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92512-FC91-FDA2-A48A-31DAEC2E4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fades in, red pops up. Only this page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8CE0C-BA96-73E4-4A0B-0B217C5F8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4378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07E2-3459-20D7-747B-973F93F16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BE5AD7-893F-6571-F18B-C17CA719E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165B2A-F17F-57F2-922E-6F68B85693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fades in, red pops up. Only this page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085CD-75CA-C9E0-8D3C-38935C5BF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0429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3D746-2C85-CC25-AE89-3B84D9314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D4E33B-D9CE-6821-7ED7-10D55DF0F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05EA17-A703-74B8-74CF-7B04F30FA6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fades in, red pops up. Only this page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DF923-16EC-64FB-B59D-A67C9C343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5826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F480B-66F0-4D52-B145-8627BB1E9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698F62-51AB-211C-585E-E2BF9EB656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EBF7E6-BC15-02C4-6FA2-3ED38E8A9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fades in, red pops up. Only this page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FA632-01F2-6D05-C2B4-946460364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029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95445-7617-B7A8-1A7F-0020951B7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7E613F-411B-1D06-90C2-3F61CCFDA5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A54B46-2118-C4EB-9A6D-FF079D389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fades in, red pops up. Only this page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20636-03BC-32E5-DB77-C0BF19480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8374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FF492-2806-AEED-28B0-25A6DF46B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F4544D-9412-8C22-49F5-C52872E5D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FA380F-8F05-7412-7E45-95D1CD07AB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fades in, red pops up. Only this page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31971-6EF0-6D52-2220-C7B103091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5242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7A532-732B-4C02-6FF8-71DF4F139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2BEFDF-B31E-20DA-F586-301001BAF6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86C07A-E8EF-CAD3-24A6-14D123AF70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fades in, red pops up. Only this page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1B385-6AE1-A5FB-21F4-D65ACE801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4883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names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890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8"/>
          <p:cNvSpPr>
            <a:spLocks noChangeArrowheads="1"/>
          </p:cNvSpPr>
          <p:nvPr userDrawn="1"/>
        </p:nvSpPr>
        <p:spPr bwMode="auto">
          <a:xfrm>
            <a:off x="0" y="4633931"/>
            <a:ext cx="9144000" cy="509569"/>
          </a:xfrm>
          <a:prstGeom prst="rect">
            <a:avLst/>
          </a:prstGeom>
          <a:solidFill>
            <a:srgbClr val="C8102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212725" y="2616994"/>
            <a:ext cx="1846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2" name="Picture 11" descr="ISU LEFT white.eps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0" y="4788715"/>
            <a:ext cx="2396490" cy="197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Placeholder 4"/>
          <p:cNvSpPr txBox="1">
            <a:spLocks/>
          </p:cNvSpPr>
          <p:nvPr userDrawn="1"/>
        </p:nvSpPr>
        <p:spPr>
          <a:xfrm>
            <a:off x="4163705" y="4755356"/>
            <a:ext cx="4191000" cy="285750"/>
          </a:xfrm>
          <a:prstGeom prst="rect">
            <a:avLst/>
          </a:prstGeom>
        </p:spPr>
        <p:txBody>
          <a:bodyPr/>
          <a:lstStyle>
            <a:lvl1pPr marL="0" indent="0" algn="r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None/>
              <a:defRPr sz="1600" b="1" i="0" baseline="0">
                <a:solidFill>
                  <a:schemeClr val="bg1"/>
                </a:solidFill>
                <a:latin typeface="Univers 65" charset="0"/>
                <a:ea typeface="Univers 65" charset="0"/>
                <a:cs typeface="Univers 65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6E6259"/>
                </a:solidFill>
                <a:latin typeface="+mn-lt"/>
                <a:ea typeface="Geneva" charset="-128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6E6259"/>
                </a:solidFill>
                <a:latin typeface="+mn-lt"/>
                <a:ea typeface="Geneva" charset="-128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6E6259"/>
                </a:solidFill>
                <a:latin typeface="+mn-lt"/>
                <a:ea typeface="Geneva" charset="-128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6E6259"/>
                </a:solidFill>
                <a:latin typeface="+mn-lt"/>
                <a:ea typeface="Geneva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7A6E67"/>
                </a:solidFill>
                <a:latin typeface="+mn-lt"/>
                <a:ea typeface="Geneva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7A6E67"/>
                </a:solidFill>
                <a:latin typeface="+mn-lt"/>
                <a:ea typeface="Geneva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7A6E67"/>
                </a:solidFill>
                <a:latin typeface="+mn-lt"/>
                <a:ea typeface="Geneva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7A6E67"/>
                </a:solidFill>
                <a:latin typeface="+mn-lt"/>
                <a:ea typeface="Geneva" charset="-128"/>
              </a:defRPr>
            </a:lvl9pPr>
          </a:lstStyle>
          <a:p>
            <a:pPr eaLnBrk="1" hangingPunct="1"/>
            <a:r>
              <a:rPr lang="en-US" sz="1200" kern="0" dirty="0">
                <a:latin typeface="Univers 75 Black" charset="0"/>
                <a:ea typeface="Univers 75 Black" charset="0"/>
                <a:cs typeface="Univers 75 Black" charset="0"/>
              </a:rPr>
              <a:t>Department of Statistics</a:t>
            </a:r>
          </a:p>
        </p:txBody>
      </p:sp>
      <p:cxnSp>
        <p:nvCxnSpPr>
          <p:cNvPr id="10" name="Straight Connector 9"/>
          <p:cNvCxnSpPr/>
          <p:nvPr userDrawn="1"/>
        </p:nvCxnSpPr>
        <p:spPr bwMode="auto">
          <a:xfrm>
            <a:off x="8458200" y="4816475"/>
            <a:ext cx="0" cy="152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Slide Number Placeholder 5"/>
          <p:cNvSpPr txBox="1">
            <a:spLocks/>
          </p:cNvSpPr>
          <p:nvPr userDrawn="1"/>
        </p:nvSpPr>
        <p:spPr>
          <a:xfrm>
            <a:off x="8534400" y="4755356"/>
            <a:ext cx="533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/>
            <a:fld id="{60FAC648-EA3A-9C41-B47D-FEC33027B8CE}" type="slidenum">
              <a:rPr lang="en-US" smtClean="0">
                <a:solidFill>
                  <a:schemeClr val="bg1"/>
                </a:solidFill>
              </a:rPr>
              <a:pPr algn="l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8102E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E1126"/>
          </a:solidFill>
          <a:latin typeface="Univers 67 CondensedBold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E1126"/>
          </a:solidFill>
          <a:latin typeface="Univers 67 CondensedBold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E1126"/>
          </a:solidFill>
          <a:latin typeface="Univers 67 CondensedBold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E1126"/>
          </a:solidFill>
          <a:latin typeface="Univers 67 CondensedBold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E1126"/>
          </a:solidFill>
          <a:latin typeface="Univers 67 CondensedBold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E1126"/>
          </a:solidFill>
          <a:latin typeface="Univers 67 CondensedBold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E1126"/>
          </a:solidFill>
          <a:latin typeface="Univers 67 CondensedBold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E1126"/>
          </a:solidFill>
          <a:latin typeface="Univers 67 CondensedBold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6E6259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6E6259"/>
          </a:solidFill>
          <a:latin typeface="+mn-lt"/>
          <a:ea typeface="Geneva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6E6259"/>
          </a:solidFill>
          <a:latin typeface="+mn-lt"/>
          <a:ea typeface="Geneva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6E6259"/>
          </a:solidFill>
          <a:latin typeface="+mn-lt"/>
          <a:ea typeface="Geneva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6E6259"/>
          </a:solidFill>
          <a:latin typeface="+mn-lt"/>
          <a:ea typeface="Geneva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7A6E67"/>
          </a:solidFill>
          <a:latin typeface="+mn-lt"/>
          <a:ea typeface="Geneva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7A6E67"/>
          </a:solidFill>
          <a:latin typeface="+mn-lt"/>
          <a:ea typeface="Geneva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7A6E67"/>
          </a:solidFill>
          <a:latin typeface="+mn-lt"/>
          <a:ea typeface="Geneva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7A6E67"/>
          </a:solidFill>
          <a:latin typeface="+mn-lt"/>
          <a:ea typeface="Geneva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pnas.org/doi/10.1073/pnas.2113561119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zoltardata.com/" TargetMode="External"/><Relationship Id="rId3" Type="http://schemas.openxmlformats.org/officeDocument/2006/relationships/hyperlink" Target="https://www.cdc.gov/flu-forecasting/data-vis/current-week.html" TargetMode="External"/><Relationship Id="rId7" Type="http://schemas.openxmlformats.org/officeDocument/2006/relationships/hyperlink" Target="https://github.com/reichlab/covid19-forecast-hub" TargetMode="External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viz.covid19forecasthub.org/" TargetMode="External"/><Relationship Id="rId5" Type="http://schemas.openxmlformats.org/officeDocument/2006/relationships/hyperlink" Target="https://github.com/reichlab/flusight-dashboard" TargetMode="External"/><Relationship Id="rId4" Type="http://schemas.openxmlformats.org/officeDocument/2006/relationships/hyperlink" Target="https://reichlab.io/flusight-dashboard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doi.org/10.1371/journal.pcbi.1011200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8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mailto:iac25002@uconn.edu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C8102E">
              <a:alpha val="9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C8102E"/>
              </a:solidFill>
              <a:effectLst/>
              <a:latin typeface="Times" charset="0"/>
            </a:endParaRPr>
          </a:p>
        </p:txBody>
      </p:sp>
      <p:cxnSp>
        <p:nvCxnSpPr>
          <p:cNvPr id="49" name="Straight Connector 48"/>
          <p:cNvCxnSpPr/>
          <p:nvPr/>
        </p:nvCxnSpPr>
        <p:spPr bwMode="auto">
          <a:xfrm>
            <a:off x="0" y="3181350"/>
            <a:ext cx="9144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1BE48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914400" y="1453575"/>
            <a:ext cx="7162800" cy="132343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Univers 57 Condensed" charset="0"/>
                <a:ea typeface="Univers 57 Condensed" charset="0"/>
                <a:cs typeface="Univers 57 Condensed" charset="0"/>
              </a:rPr>
              <a:t>Bayesian Success in </a:t>
            </a:r>
          </a:p>
          <a:p>
            <a:r>
              <a:rPr lang="en-US" sz="4000" dirty="0">
                <a:solidFill>
                  <a:schemeClr val="bg1"/>
                </a:solidFill>
                <a:latin typeface="Univers 57 Condensed" charset="0"/>
                <a:ea typeface="Univers 57 Condensed" charset="0"/>
                <a:cs typeface="Univers 57 Condensed" charset="0"/>
              </a:rPr>
              <a:t>Disease Severity Forecasting</a:t>
            </a:r>
          </a:p>
        </p:txBody>
      </p:sp>
      <p:pic>
        <p:nvPicPr>
          <p:cNvPr id="13" name="Picture 12" descr="ISU LEFT white.eps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77000" y="4788715"/>
            <a:ext cx="2396490" cy="197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/>
          <p:cNvSpPr txBox="1"/>
          <p:nvPr/>
        </p:nvSpPr>
        <p:spPr>
          <a:xfrm>
            <a:off x="934453" y="3486150"/>
            <a:ext cx="7162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"/>
            <a:r>
              <a:rPr lang="en-US" sz="1600" i="1" dirty="0">
                <a:solidFill>
                  <a:schemeClr val="bg1"/>
                </a:solidFill>
                <a:latin typeface="ITC Berkeley Oldstyle Book" charset="0"/>
                <a:ea typeface="ITC Berkeley Oldstyle Book" charset="0"/>
                <a:cs typeface="ITC Berkeley Oldstyle Book" charset="0"/>
              </a:rPr>
              <a:t>Jarad Niemi</a:t>
            </a:r>
          </a:p>
          <a:p>
            <a:pPr fontAlgn="b"/>
            <a:r>
              <a:rPr lang="en-US" sz="1600" i="1" dirty="0">
                <a:solidFill>
                  <a:schemeClr val="bg1"/>
                </a:solidFill>
                <a:latin typeface="ITC Berkeley Oldstyle Book" charset="0"/>
                <a:ea typeface="ITC Berkeley Oldstyle Book" charset="0"/>
                <a:cs typeface="ITC Berkeley Oldstyle Book" charset="0"/>
              </a:rPr>
              <a:t>Professor in Department of Statistics</a:t>
            </a:r>
          </a:p>
          <a:p>
            <a:pPr fontAlgn="b"/>
            <a:r>
              <a:rPr lang="en-US" sz="1600" i="1" dirty="0">
                <a:solidFill>
                  <a:schemeClr val="bg1"/>
                </a:solidFill>
                <a:latin typeface="ITC Berkeley Oldstyle Book" charset="0"/>
                <a:ea typeface="ITC Berkeley Oldstyle Book" charset="0"/>
                <a:cs typeface="ITC Berkeley Oldstyle Book" charset="0"/>
              </a:rPr>
              <a:t>Statistical Consulting Director</a:t>
            </a:r>
          </a:p>
          <a:p>
            <a:pPr fontAlgn="b"/>
            <a:r>
              <a:rPr lang="en-US" sz="1600" i="1" dirty="0">
                <a:solidFill>
                  <a:schemeClr val="bg1"/>
                </a:solidFill>
                <a:latin typeface="ITC Berkeley Oldstyle Book" charset="0"/>
                <a:ea typeface="ITC Berkeley Oldstyle Book" charset="0"/>
                <a:cs typeface="ITC Berkeley Oldstyle Book" charset="0"/>
              </a:rPr>
              <a:t>Data Science Program Director</a:t>
            </a:r>
          </a:p>
        </p:txBody>
      </p:sp>
    </p:spTree>
    <p:extLst>
      <p:ext uri="{BB962C8B-B14F-4D97-AF65-F5344CB8AC3E}">
        <p14:creationId xmlns:p14="http://schemas.microsoft.com/office/powerpoint/2010/main" val="693819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9DE76-C05C-7942-A07C-17440909F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7801D24-B6D2-FF01-3F21-D3CCFA6D93D0}"/>
              </a:ext>
            </a:extLst>
          </p:cNvPr>
          <p:cNvCxnSpPr/>
          <p:nvPr/>
        </p:nvCxnSpPr>
        <p:spPr bwMode="auto">
          <a:xfrm>
            <a:off x="8458200" y="4816475"/>
            <a:ext cx="0" cy="152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CD96C7F-EEF4-1E88-E53B-CE92EC44B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608" y="590550"/>
            <a:ext cx="9207215" cy="328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355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F70A7-AC2A-AAD7-8CB5-644B1D380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0A0E295-7C57-9BC4-AF62-1150536D7635}"/>
              </a:ext>
            </a:extLst>
          </p:cNvPr>
          <p:cNvCxnSpPr/>
          <p:nvPr/>
        </p:nvCxnSpPr>
        <p:spPr bwMode="auto">
          <a:xfrm>
            <a:off x="8458200" y="4816475"/>
            <a:ext cx="0" cy="152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B8278C6-7383-A8E7-5AFD-704739FD0513}"/>
              </a:ext>
            </a:extLst>
          </p:cNvPr>
          <p:cNvCxnSpPr/>
          <p:nvPr/>
        </p:nvCxnSpPr>
        <p:spPr bwMode="auto">
          <a:xfrm>
            <a:off x="685800" y="1123950"/>
            <a:ext cx="76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225C215-81CD-F8BA-A705-0EEEA5A0CBDC}"/>
              </a:ext>
            </a:extLst>
          </p:cNvPr>
          <p:cNvSpPr txBox="1"/>
          <p:nvPr/>
        </p:nvSpPr>
        <p:spPr>
          <a:xfrm>
            <a:off x="604520" y="583109"/>
            <a:ext cx="5105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8102E"/>
                </a:solidFill>
                <a:latin typeface="Univers 75 Black" charset="0"/>
                <a:ea typeface="Univers 75 Black" charset="0"/>
                <a:cs typeface="Univers 75 Black" charset="0"/>
              </a:rPr>
              <a:t>Best of Statistical Science</a:t>
            </a:r>
            <a:endParaRPr lang="en-US" sz="2200" dirty="0">
              <a:solidFill>
                <a:srgbClr val="C8102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CA1E60-CB5C-E10A-D04A-776BE250FFF2}"/>
              </a:ext>
            </a:extLst>
          </p:cNvPr>
          <p:cNvSpPr txBox="1"/>
          <p:nvPr/>
        </p:nvSpPr>
        <p:spPr>
          <a:xfrm>
            <a:off x="685800" y="1428750"/>
            <a:ext cx="425308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Massively Collaborative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Probabilistic Forecasts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Expert Opinion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Bayesian Hierarchical Models</a:t>
            </a:r>
          </a:p>
        </p:txBody>
      </p:sp>
    </p:spTree>
    <p:extLst>
      <p:ext uri="{BB962C8B-B14F-4D97-AF65-F5344CB8AC3E}">
        <p14:creationId xmlns:p14="http://schemas.microsoft.com/office/powerpoint/2010/main" val="447126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A04EC-69BE-0620-95FE-0ABA643C6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AB4CC6-81BF-92A9-2B40-BD267E81A306}"/>
              </a:ext>
            </a:extLst>
          </p:cNvPr>
          <p:cNvCxnSpPr/>
          <p:nvPr/>
        </p:nvCxnSpPr>
        <p:spPr bwMode="auto">
          <a:xfrm>
            <a:off x="8458200" y="4816475"/>
            <a:ext cx="0" cy="152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8238EDEB-28D0-CBC9-9A6F-BDCDFA01A679}"/>
              </a:ext>
            </a:extLst>
          </p:cNvPr>
          <p:cNvSpPr/>
          <p:nvPr/>
        </p:nvSpPr>
        <p:spPr bwMode="auto">
          <a:xfrm>
            <a:off x="0" y="0"/>
            <a:ext cx="3090672" cy="4636008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pic>
        <p:nvPicPr>
          <p:cNvPr id="1026" name="Picture 2" descr="Plot of national ensemble forecasts for new influenza hospital admissions.">
            <a:extLst>
              <a:ext uri="{FF2B5EF4-FFF2-40B4-BE49-F238E27FC236}">
                <a16:creationId xmlns:a16="http://schemas.microsoft.com/office/drawing/2014/main" id="{EDA25805-09B0-3A64-8D1A-D484586F0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857"/>
            <a:ext cx="8111582" cy="4636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88F09F-1BA6-65D1-B236-58A09DE84617}"/>
              </a:ext>
            </a:extLst>
          </p:cNvPr>
          <p:cNvSpPr txBox="1"/>
          <p:nvPr/>
        </p:nvSpPr>
        <p:spPr>
          <a:xfrm>
            <a:off x="3690388" y="6350"/>
            <a:ext cx="54371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https://</a:t>
            </a:r>
            <a:r>
              <a:rPr lang="en-US" sz="1600" dirty="0" err="1">
                <a:solidFill>
                  <a:srgbClr val="C00000"/>
                </a:solidFill>
              </a:rPr>
              <a:t>www.cdc.gov</a:t>
            </a:r>
            <a:r>
              <a:rPr lang="en-US" sz="1600" dirty="0">
                <a:solidFill>
                  <a:srgbClr val="C00000"/>
                </a:solidFill>
              </a:rPr>
              <a:t>/flu-forecasting/data-vis/current-</a:t>
            </a:r>
            <a:r>
              <a:rPr lang="en-US" sz="1600" dirty="0" err="1">
                <a:solidFill>
                  <a:srgbClr val="C00000"/>
                </a:solidFill>
              </a:rPr>
              <a:t>week.html</a:t>
            </a:r>
            <a:endParaRPr 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985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9AF69-3231-2CE3-4C13-22D9DF1EC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BE21DC2-20CE-69BF-AE32-8DBF1C0B816D}"/>
              </a:ext>
            </a:extLst>
          </p:cNvPr>
          <p:cNvCxnSpPr/>
          <p:nvPr/>
        </p:nvCxnSpPr>
        <p:spPr bwMode="auto">
          <a:xfrm>
            <a:off x="8458200" y="4816475"/>
            <a:ext cx="0" cy="152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9E06446-64BF-0513-34D6-D6B985D00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40901"/>
            <a:ext cx="7620000" cy="43542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F640A4-5F69-E484-E6E7-001CA8328B0F}"/>
              </a:ext>
            </a:extLst>
          </p:cNvPr>
          <p:cNvSpPr txBox="1"/>
          <p:nvPr/>
        </p:nvSpPr>
        <p:spPr>
          <a:xfrm>
            <a:off x="2514600" y="25400"/>
            <a:ext cx="67511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https://</a:t>
            </a:r>
            <a:r>
              <a:rPr lang="en-US" sz="1600" dirty="0" err="1">
                <a:solidFill>
                  <a:srgbClr val="C00000"/>
                </a:solidFill>
              </a:rPr>
              <a:t>www.cdc.gov</a:t>
            </a:r>
            <a:r>
              <a:rPr lang="en-US" sz="1600" dirty="0">
                <a:solidFill>
                  <a:srgbClr val="C00000"/>
                </a:solidFill>
              </a:rPr>
              <a:t>/flu-forecasting/data-vis/emergency-department-</a:t>
            </a:r>
            <a:r>
              <a:rPr lang="en-US" sz="1600" dirty="0" err="1">
                <a:solidFill>
                  <a:srgbClr val="C00000"/>
                </a:solidFill>
              </a:rPr>
              <a:t>visits.html</a:t>
            </a:r>
            <a:endParaRPr 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217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19B7A-383E-1A4C-F1C6-FB7409FF1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FACE2C-CE43-AAA8-53EF-2D1A8072D46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BCEB01B-82BF-E39C-EBDD-A55EDFD6B24E}"/>
              </a:ext>
            </a:extLst>
          </p:cNvPr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C8102E">
              <a:alpha val="9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C8102E"/>
              </a:solidFill>
              <a:effectLst/>
              <a:latin typeface="Times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2A7FDF3-D71E-E00D-1711-E6210F93815E}"/>
              </a:ext>
            </a:extLst>
          </p:cNvPr>
          <p:cNvCxnSpPr/>
          <p:nvPr/>
        </p:nvCxnSpPr>
        <p:spPr bwMode="auto">
          <a:xfrm>
            <a:off x="0" y="3511550"/>
            <a:ext cx="9144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1BE48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A227C28-2BAC-FACB-EFF3-446A52C65915}"/>
              </a:ext>
            </a:extLst>
          </p:cNvPr>
          <p:cNvSpPr txBox="1"/>
          <p:nvPr/>
        </p:nvSpPr>
        <p:spPr>
          <a:xfrm>
            <a:off x="914400" y="2069128"/>
            <a:ext cx="7162800" cy="707886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Univers 57 Condensed" charset="0"/>
                <a:ea typeface="Univers 57 Condensed" charset="0"/>
                <a:cs typeface="Univers 57 Condensed" charset="0"/>
              </a:rPr>
              <a:t>Massively Collaborative</a:t>
            </a:r>
          </a:p>
        </p:txBody>
      </p:sp>
    </p:spTree>
    <p:extLst>
      <p:ext uri="{BB962C8B-B14F-4D97-AF65-F5344CB8AC3E}">
        <p14:creationId xmlns:p14="http://schemas.microsoft.com/office/powerpoint/2010/main" val="606577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95524-F5A8-598A-DA94-D6B65FBA8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3503216B-91AA-B830-5ADB-B3E0E38661C2}"/>
              </a:ext>
            </a:extLst>
          </p:cNvPr>
          <p:cNvSpPr txBox="1"/>
          <p:nvPr/>
        </p:nvSpPr>
        <p:spPr>
          <a:xfrm>
            <a:off x="3694814" y="583109"/>
            <a:ext cx="5105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8102E"/>
                </a:solidFill>
                <a:latin typeface="Univers 75 Black" charset="0"/>
                <a:ea typeface="Univers 75 Black" charset="0"/>
                <a:cs typeface="Univers 75 Black" charset="0"/>
              </a:rPr>
              <a:t>Collaborative Manuscripts</a:t>
            </a:r>
            <a:endParaRPr lang="en-US" sz="2200" dirty="0">
              <a:solidFill>
                <a:srgbClr val="C8102E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779EF47-E2D3-F2A3-0461-E569F7EE9890}"/>
              </a:ext>
            </a:extLst>
          </p:cNvPr>
          <p:cNvCxnSpPr/>
          <p:nvPr/>
        </p:nvCxnSpPr>
        <p:spPr bwMode="auto">
          <a:xfrm>
            <a:off x="3776094" y="1123950"/>
            <a:ext cx="4377306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FC8674C-F359-239D-BEEC-451E3AF30D73}"/>
              </a:ext>
            </a:extLst>
          </p:cNvPr>
          <p:cNvSpPr txBox="1"/>
          <p:nvPr/>
        </p:nvSpPr>
        <p:spPr>
          <a:xfrm>
            <a:off x="3694814" y="1383090"/>
            <a:ext cx="4763386" cy="792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>
                <a:solidFill>
                  <a:srgbClr val="7A6E67"/>
                </a:solidFill>
                <a:latin typeface="ITC Berkeley Oldstyle Medium" charset="0"/>
                <a:ea typeface="ITC Berkeley Oldstyle Medium" charset="0"/>
                <a:cs typeface="ITC Berkeley Oldstyle Medium" charset="0"/>
                <a:hlinkClick r:id="rId2"/>
              </a:rPr>
              <a:t>https://www.pnas.org/doi/10.1073/pnas.2113561119</a:t>
            </a:r>
            <a:endParaRPr lang="en-US" sz="1600" dirty="0">
              <a:solidFill>
                <a:srgbClr val="7A6E67"/>
              </a:solidFill>
              <a:latin typeface="ITC Berkeley Oldstyle Medium" charset="0"/>
              <a:ea typeface="ITC Berkeley Oldstyle Medium" charset="0"/>
              <a:cs typeface="ITC Berkeley Oldstyle Medium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1600" dirty="0">
              <a:solidFill>
                <a:srgbClr val="7A6E67"/>
              </a:solidFill>
              <a:latin typeface="ITC Berkeley Oldstyle Medium" charset="0"/>
              <a:ea typeface="ITC Berkeley Oldstyle Medium" charset="0"/>
              <a:cs typeface="ITC Berkeley Oldstyle Medium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AAA422E-3801-4177-098E-5497E84004A4}"/>
              </a:ext>
            </a:extLst>
          </p:cNvPr>
          <p:cNvCxnSpPr/>
          <p:nvPr/>
        </p:nvCxnSpPr>
        <p:spPr bwMode="auto">
          <a:xfrm>
            <a:off x="8458200" y="4816475"/>
            <a:ext cx="0" cy="152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BE2B3D66-0B7E-E1F5-6176-068D1C60196A}"/>
              </a:ext>
            </a:extLst>
          </p:cNvPr>
          <p:cNvSpPr/>
          <p:nvPr/>
        </p:nvSpPr>
        <p:spPr bwMode="auto">
          <a:xfrm>
            <a:off x="0" y="0"/>
            <a:ext cx="3090672" cy="4636008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pic>
        <p:nvPicPr>
          <p:cNvPr id="4" name="Picture 3" descr="A screenshot of a web page&#10;&#10;AI-generated content may be incorrect.">
            <a:extLst>
              <a:ext uri="{FF2B5EF4-FFF2-40B4-BE49-F238E27FC236}">
                <a16:creationId xmlns:a16="http://schemas.microsoft.com/office/drawing/2014/main" id="{3DA5082B-C675-5D76-BBA6-E5262EBA7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73" y="54798"/>
            <a:ext cx="2839927" cy="2571750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7799AC-2CE3-6BF5-3BA0-EBCCF55FA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72" y="2626547"/>
            <a:ext cx="2839927" cy="2002603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CB5D608-3784-D8CD-DCDA-8B9B42999A1C}"/>
              </a:ext>
            </a:extLst>
          </p:cNvPr>
          <p:cNvSpPr/>
          <p:nvPr/>
        </p:nvSpPr>
        <p:spPr bwMode="auto">
          <a:xfrm>
            <a:off x="914400" y="819150"/>
            <a:ext cx="457200" cy="152400"/>
          </a:xfrm>
          <a:prstGeom prst="ellipse">
            <a:avLst/>
          </a:prstGeom>
          <a:noFill/>
          <a:ln w="9525" cap="flat" cmpd="sng" algn="ctr">
            <a:solidFill>
              <a:srgbClr val="C8102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0288081-F791-2A77-9B7F-0ADD0C41336C}"/>
              </a:ext>
            </a:extLst>
          </p:cNvPr>
          <p:cNvSpPr/>
          <p:nvPr/>
        </p:nvSpPr>
        <p:spPr bwMode="auto">
          <a:xfrm>
            <a:off x="644912" y="4248150"/>
            <a:ext cx="457200" cy="152400"/>
          </a:xfrm>
          <a:prstGeom prst="ellipse">
            <a:avLst/>
          </a:prstGeom>
          <a:noFill/>
          <a:ln w="9525" cap="flat" cmpd="sng" algn="ctr">
            <a:solidFill>
              <a:srgbClr val="C8102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183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AC58B-E52E-A654-8462-3314E62C1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C774686-0527-16EC-14CE-A47412D7DB8A}"/>
              </a:ext>
            </a:extLst>
          </p:cNvPr>
          <p:cNvCxnSpPr/>
          <p:nvPr/>
        </p:nvCxnSpPr>
        <p:spPr bwMode="auto">
          <a:xfrm>
            <a:off x="685800" y="1123950"/>
            <a:ext cx="76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B7DF3BE-3508-2F84-B288-38B305028514}"/>
              </a:ext>
            </a:extLst>
          </p:cNvPr>
          <p:cNvSpPr txBox="1"/>
          <p:nvPr/>
        </p:nvSpPr>
        <p:spPr>
          <a:xfrm>
            <a:off x="604520" y="583109"/>
            <a:ext cx="5105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8102E"/>
                </a:solidFill>
                <a:latin typeface="Univers 75 Black" charset="0"/>
                <a:ea typeface="Univers 75 Black" charset="0"/>
                <a:cs typeface="Univers 75 Black" charset="0"/>
              </a:rPr>
              <a:t>CDC Forecasting</a:t>
            </a:r>
            <a:endParaRPr lang="en-US" sz="2200" dirty="0">
              <a:solidFill>
                <a:srgbClr val="C8102E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CBE24D-4A27-2C7D-EF01-F85A4CF3D8EE}"/>
              </a:ext>
            </a:extLst>
          </p:cNvPr>
          <p:cNvSpPr txBox="1"/>
          <p:nvPr/>
        </p:nvSpPr>
        <p:spPr>
          <a:xfrm>
            <a:off x="604520" y="1159717"/>
            <a:ext cx="7701280" cy="3747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endParaRPr lang="en-US" sz="1600" dirty="0">
              <a:solidFill>
                <a:srgbClr val="7A6E67"/>
              </a:solidFill>
              <a:latin typeface="ITC Berkeley Oldstyle Medium" charset="0"/>
              <a:ea typeface="ITC Berkeley Oldstyle Medium" charset="0"/>
              <a:cs typeface="ITC Berkeley Oldstyle Medium" charset="0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sz="1600" dirty="0">
                <a:solidFill>
                  <a:srgbClr val="7A6E67"/>
                </a:solidFill>
                <a:latin typeface="ITC Berkeley Oldstyle Medium" charset="0"/>
                <a:ea typeface="ITC Berkeley Oldstyle Medium" charset="0"/>
                <a:cs typeface="ITC Berkeley Oldstyle Medium" charset="0"/>
                <a:hlinkClick r:id="rId3"/>
              </a:rPr>
              <a:t>https://www.cdc.gov/flu-forecasting/data-vis/current-week.html</a:t>
            </a:r>
            <a:endParaRPr lang="en-US" sz="1600" dirty="0">
              <a:solidFill>
                <a:srgbClr val="7A6E67"/>
              </a:solidFill>
              <a:latin typeface="ITC Berkeley Oldstyle Medium" charset="0"/>
              <a:ea typeface="ITC Berkeley Oldstyle Medium" charset="0"/>
              <a:cs typeface="ITC Berkeley Oldstyle Medium" charset="0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sz="1600" dirty="0">
                <a:solidFill>
                  <a:srgbClr val="7A6E67"/>
                </a:solidFill>
                <a:latin typeface="ITC Berkeley Oldstyle Medium" charset="0"/>
                <a:ea typeface="ITC Berkeley Oldstyle Medium" charset="0"/>
                <a:cs typeface="ITC Berkeley Oldstyle Medium" charset="0"/>
                <a:hlinkClick r:id="rId4"/>
              </a:rPr>
              <a:t>https://reichlab.io/flusight-dashboard/</a:t>
            </a:r>
            <a:endParaRPr lang="en-US" sz="1600" dirty="0">
              <a:solidFill>
                <a:srgbClr val="7A6E67"/>
              </a:solidFill>
              <a:latin typeface="ITC Berkeley Oldstyle Medium" charset="0"/>
              <a:ea typeface="ITC Berkeley Oldstyle Medium" charset="0"/>
              <a:cs typeface="ITC Berkeley Oldstyle Medium" charset="0"/>
            </a:endParaRPr>
          </a:p>
          <a:p>
            <a:pPr marL="742950" lvl="1" indent="-285750">
              <a:lnSpc>
                <a:spcPct val="150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sz="1600" dirty="0">
                <a:solidFill>
                  <a:srgbClr val="7A6E67"/>
                </a:solidFill>
                <a:latin typeface="ITC Berkeley Oldstyle Medium" charset="0"/>
                <a:ea typeface="ITC Berkeley Oldstyle Medium" charset="0"/>
                <a:cs typeface="ITC Berkeley Oldstyle Medium" charset="0"/>
                <a:hlinkClick r:id="rId5"/>
              </a:rPr>
              <a:t>https://github.com/reichlab/flusight-dashboard</a:t>
            </a:r>
            <a:endParaRPr lang="en-US" sz="1600" dirty="0">
              <a:solidFill>
                <a:srgbClr val="7A6E67"/>
              </a:solidFill>
              <a:latin typeface="ITC Berkeley Oldstyle Medium" charset="0"/>
              <a:ea typeface="ITC Berkeley Oldstyle Medium" charset="0"/>
              <a:cs typeface="ITC Berkeley Oldstyle Medium" charset="0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sz="1600" dirty="0">
                <a:solidFill>
                  <a:srgbClr val="7A6E67"/>
                </a:solidFill>
                <a:latin typeface="ITC Berkeley Oldstyle Medium" charset="0"/>
                <a:ea typeface="ITC Berkeley Oldstyle Medium" charset="0"/>
                <a:cs typeface="ITC Berkeley Oldstyle Medium" charset="0"/>
                <a:hlinkClick r:id="rId6"/>
              </a:rPr>
              <a:t>https://viz.covid19forecasthub.org/</a:t>
            </a:r>
            <a:endParaRPr lang="en-US" sz="1600" dirty="0">
              <a:solidFill>
                <a:srgbClr val="7A6E67"/>
              </a:solidFill>
              <a:latin typeface="ITC Berkeley Oldstyle Medium" charset="0"/>
              <a:ea typeface="ITC Berkeley Oldstyle Medium" charset="0"/>
              <a:cs typeface="ITC Berkeley Oldstyle Medium" charset="0"/>
            </a:endParaRPr>
          </a:p>
          <a:p>
            <a:pPr marL="742950" lvl="1" indent="-285750">
              <a:lnSpc>
                <a:spcPct val="150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sz="1600" dirty="0">
                <a:solidFill>
                  <a:srgbClr val="7A6E67"/>
                </a:solidFill>
                <a:latin typeface="ITC Berkeley Oldstyle Medium" charset="0"/>
                <a:ea typeface="ITC Berkeley Oldstyle Medium" charset="0"/>
                <a:cs typeface="ITC Berkeley Oldstyle Medium" charset="0"/>
                <a:hlinkClick r:id="rId7"/>
              </a:rPr>
              <a:t>https://github.com/reichlab/covid19-forecast-hub</a:t>
            </a:r>
            <a:endParaRPr lang="en-US" sz="1600" dirty="0">
              <a:solidFill>
                <a:srgbClr val="7A6E67"/>
              </a:solidFill>
              <a:latin typeface="ITC Berkeley Oldstyle Medium" charset="0"/>
              <a:ea typeface="ITC Berkeley Oldstyle Medium" charset="0"/>
              <a:cs typeface="ITC Berkeley Oldstyle Medium" charset="0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sz="1600" dirty="0">
                <a:solidFill>
                  <a:srgbClr val="7A6E67"/>
                </a:solidFill>
                <a:latin typeface="ITC Berkeley Oldstyle Medium" charset="0"/>
                <a:ea typeface="ITC Berkeley Oldstyle Medium" charset="0"/>
                <a:cs typeface="ITC Berkeley Oldstyle Medium" charset="0"/>
                <a:hlinkClick r:id="rId8"/>
              </a:rPr>
              <a:t>https://zoltardata.com/</a:t>
            </a:r>
            <a:endParaRPr lang="en-US" sz="1600" dirty="0">
              <a:solidFill>
                <a:srgbClr val="7A6E67"/>
              </a:solidFill>
              <a:latin typeface="ITC Berkeley Oldstyle Medium" charset="0"/>
              <a:ea typeface="ITC Berkeley Oldstyle Medium" charset="0"/>
              <a:cs typeface="ITC Berkeley Oldstyle Medium" charset="0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Blip>
                <a:blip r:embed="rId2"/>
              </a:buBlip>
            </a:pPr>
            <a:endParaRPr lang="en-US" sz="1600" dirty="0">
              <a:solidFill>
                <a:srgbClr val="7A6E67"/>
              </a:solidFill>
              <a:latin typeface="ITC Berkeley Oldstyle Medium" charset="0"/>
              <a:ea typeface="ITC Berkeley Oldstyle Medium" charset="0"/>
              <a:cs typeface="ITC Berkeley Oldstyle Medium" charset="0"/>
            </a:endParaRPr>
          </a:p>
          <a:p>
            <a:pPr marL="742950" lvl="1" indent="-285750">
              <a:lnSpc>
                <a:spcPct val="150000"/>
              </a:lnSpc>
              <a:spcBef>
                <a:spcPts val="0"/>
              </a:spcBef>
              <a:buBlip>
                <a:blip r:embed="rId2"/>
              </a:buBlip>
            </a:pPr>
            <a:endParaRPr lang="en-US" sz="1600" dirty="0">
              <a:solidFill>
                <a:srgbClr val="7A6E67"/>
              </a:solidFill>
              <a:latin typeface="ITC Berkeley Oldstyle Medium" charset="0"/>
              <a:ea typeface="ITC Berkeley Oldstyle Medium" charset="0"/>
              <a:cs typeface="ITC Berkeley Oldstyle Medium" charset="0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Blip>
                <a:blip r:embed="rId2"/>
              </a:buBlip>
            </a:pPr>
            <a:endParaRPr lang="en-US" sz="1600" dirty="0">
              <a:solidFill>
                <a:srgbClr val="7A6E67"/>
              </a:solidFill>
              <a:latin typeface="ITC Berkeley Oldstyle Medium" charset="0"/>
              <a:ea typeface="ITC Berkeley Oldstyle Medium" charset="0"/>
              <a:cs typeface="ITC Berkeley Oldstyle Medium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F5326C1-9C4C-BCF9-078F-44EAF190F37F}"/>
              </a:ext>
            </a:extLst>
          </p:cNvPr>
          <p:cNvCxnSpPr/>
          <p:nvPr/>
        </p:nvCxnSpPr>
        <p:spPr bwMode="auto">
          <a:xfrm>
            <a:off x="8458200" y="4816475"/>
            <a:ext cx="0" cy="152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700669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533FE-7113-C4DB-CAD3-5DFFA338E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3147E1-B1AA-5F20-5013-538646364355}"/>
              </a:ext>
            </a:extLst>
          </p:cNvPr>
          <p:cNvSpPr txBox="1"/>
          <p:nvPr/>
        </p:nvSpPr>
        <p:spPr>
          <a:xfrm>
            <a:off x="5104675" y="57150"/>
            <a:ext cx="4039325" cy="423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>
                <a:solidFill>
                  <a:srgbClr val="7A6E67"/>
                </a:solidFill>
                <a:latin typeface="ITC Berkeley Oldstyle Medium" charset="0"/>
                <a:ea typeface="ITC Berkeley Oldstyle Medium" charset="0"/>
                <a:cs typeface="ITC Berkeley Oldstyle Medium" charset="0"/>
                <a:hlinkClick r:id="rId2"/>
              </a:rPr>
              <a:t>https://doi.org/10.1371/journal.pcbi.1011200</a:t>
            </a:r>
            <a:endParaRPr lang="en-US" sz="1600" dirty="0">
              <a:solidFill>
                <a:srgbClr val="7A6E67"/>
              </a:solidFill>
              <a:latin typeface="ITC Berkeley Oldstyle Medium" charset="0"/>
              <a:ea typeface="ITC Berkeley Oldstyle Medium" charset="0"/>
              <a:cs typeface="ITC Berkeley Oldstyle Medium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30285E2-4237-5D26-B94F-E71963DCDF7F}"/>
              </a:ext>
            </a:extLst>
          </p:cNvPr>
          <p:cNvCxnSpPr/>
          <p:nvPr/>
        </p:nvCxnSpPr>
        <p:spPr bwMode="auto">
          <a:xfrm>
            <a:off x="8458200" y="4816475"/>
            <a:ext cx="0" cy="152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BDAFA701-9745-90B8-0EC0-D01B4FD43C6C}"/>
              </a:ext>
            </a:extLst>
          </p:cNvPr>
          <p:cNvSpPr/>
          <p:nvPr/>
        </p:nvSpPr>
        <p:spPr bwMode="auto">
          <a:xfrm>
            <a:off x="0" y="0"/>
            <a:ext cx="3090672" cy="4636008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247D90-5FA5-5EA8-F002-FEFBDDBD8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67"/>
            <a:ext cx="4572000" cy="465002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87D1141-E3CA-821B-332F-C912D1BA7A0D}"/>
              </a:ext>
            </a:extLst>
          </p:cNvPr>
          <p:cNvSpPr/>
          <p:nvPr/>
        </p:nvSpPr>
        <p:spPr bwMode="auto">
          <a:xfrm>
            <a:off x="3276600" y="1119996"/>
            <a:ext cx="1143000" cy="308754"/>
          </a:xfrm>
          <a:prstGeom prst="ellipse">
            <a:avLst/>
          </a:prstGeom>
          <a:noFill/>
          <a:ln w="41275" cap="flat" cmpd="sng" algn="ctr">
            <a:solidFill>
              <a:srgbClr val="C8102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6816A5-976E-33BC-9E73-5809A383F746}"/>
              </a:ext>
            </a:extLst>
          </p:cNvPr>
          <p:cNvSpPr/>
          <p:nvPr/>
        </p:nvSpPr>
        <p:spPr bwMode="auto">
          <a:xfrm>
            <a:off x="1356852" y="863395"/>
            <a:ext cx="1143000" cy="300846"/>
          </a:xfrm>
          <a:prstGeom prst="ellipse">
            <a:avLst/>
          </a:prstGeom>
          <a:noFill/>
          <a:ln w="41275" cap="flat" cmpd="sng" algn="ctr">
            <a:solidFill>
              <a:srgbClr val="C8102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820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35A1F-898D-EF88-58ED-CE9D6905A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6B8BC8-6F70-D9E3-B33A-F482E6FD747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81CC29C-4FFF-C57E-9F48-09610C47C72C}"/>
              </a:ext>
            </a:extLst>
          </p:cNvPr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C8102E">
              <a:alpha val="9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C8102E"/>
              </a:solidFill>
              <a:effectLst/>
              <a:latin typeface="Times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84BA3D3-3929-FAE8-FB46-2F63816FFC94}"/>
              </a:ext>
            </a:extLst>
          </p:cNvPr>
          <p:cNvCxnSpPr/>
          <p:nvPr/>
        </p:nvCxnSpPr>
        <p:spPr bwMode="auto">
          <a:xfrm>
            <a:off x="0" y="3511550"/>
            <a:ext cx="9144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1BE48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DEE720C-2BBB-BBFB-48C0-3E3D6D19B71F}"/>
              </a:ext>
            </a:extLst>
          </p:cNvPr>
          <p:cNvSpPr txBox="1"/>
          <p:nvPr/>
        </p:nvSpPr>
        <p:spPr>
          <a:xfrm>
            <a:off x="914400" y="2069128"/>
            <a:ext cx="7162800" cy="707886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Univers 57 Condensed" charset="0"/>
                <a:ea typeface="Univers 57 Condensed" charset="0"/>
                <a:cs typeface="Univers 57 Condensed" charset="0"/>
              </a:rPr>
              <a:t>Probabilistic Forecasts</a:t>
            </a:r>
          </a:p>
        </p:txBody>
      </p:sp>
    </p:spTree>
    <p:extLst>
      <p:ext uri="{BB962C8B-B14F-4D97-AF65-F5344CB8AC3E}">
        <p14:creationId xmlns:p14="http://schemas.microsoft.com/office/powerpoint/2010/main" val="3168913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 bwMode="auto">
          <a:xfrm>
            <a:off x="685800" y="1123950"/>
            <a:ext cx="74676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D58796A-1473-182C-74E3-F88774A2ACEF}"/>
              </a:ext>
            </a:extLst>
          </p:cNvPr>
          <p:cNvSpPr txBox="1"/>
          <p:nvPr/>
        </p:nvSpPr>
        <p:spPr>
          <a:xfrm>
            <a:off x="604520" y="583109"/>
            <a:ext cx="5105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8102E"/>
                </a:solidFill>
                <a:latin typeface="Univers 75 Black" charset="0"/>
                <a:ea typeface="Univers 75 Black" charset="0"/>
                <a:cs typeface="Univers 75 Black" charset="0"/>
              </a:rPr>
              <a:t>Probabilistic Forecasts pre-2016</a:t>
            </a:r>
            <a:endParaRPr lang="en-US" sz="2200" dirty="0">
              <a:solidFill>
                <a:srgbClr val="C8102E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FE4CCD-4F9A-649D-594A-179B8DC0B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632" y="1244352"/>
            <a:ext cx="5080000" cy="3136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287D2C-62DA-BD0B-645E-5BACCCB41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313701"/>
            <a:ext cx="2971800" cy="125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002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C8615-D3DF-042A-8D9E-1BADE27BC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09B4B6-EB2F-86E3-C189-48791D9B17A6}"/>
              </a:ext>
            </a:extLst>
          </p:cNvPr>
          <p:cNvCxnSpPr/>
          <p:nvPr/>
        </p:nvCxnSpPr>
        <p:spPr bwMode="auto">
          <a:xfrm>
            <a:off x="685800" y="1123950"/>
            <a:ext cx="74676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1CF95C5-F170-E757-FC8C-0EFA4C46E6CF}"/>
              </a:ext>
            </a:extLst>
          </p:cNvPr>
          <p:cNvSpPr txBox="1"/>
          <p:nvPr/>
        </p:nvSpPr>
        <p:spPr>
          <a:xfrm>
            <a:off x="604520" y="583109"/>
            <a:ext cx="5105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8102E"/>
                </a:solidFill>
                <a:latin typeface="Univers 75 Black" charset="0"/>
                <a:ea typeface="Univers 75 Black" charset="0"/>
                <a:cs typeface="Univers 75 Black" charset="0"/>
              </a:rPr>
              <a:t>Probabilistic Forecasts during/post COVID</a:t>
            </a:r>
            <a:endParaRPr lang="en-US" sz="2200" dirty="0">
              <a:solidFill>
                <a:srgbClr val="C8102E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0D7BD9-669A-B8E6-9FA7-53166D500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87235"/>
            <a:ext cx="5080000" cy="3136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A2E12A-4AD5-F8AF-F30F-6DB00387E9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7514" y="1385391"/>
            <a:ext cx="3114086" cy="149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864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AF881-8BCD-EB74-6134-8354339AD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B0A1AC3-2039-7F6D-B543-0792E3FA195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5BD6830-C555-B833-4669-C7E5D61A8AF7}"/>
              </a:ext>
            </a:extLst>
          </p:cNvPr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C8102E">
              <a:alpha val="9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C8102E"/>
              </a:solidFill>
              <a:effectLst/>
              <a:latin typeface="Times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07C83CD-926A-2017-096C-51B8CB3F8654}"/>
              </a:ext>
            </a:extLst>
          </p:cNvPr>
          <p:cNvCxnSpPr/>
          <p:nvPr/>
        </p:nvCxnSpPr>
        <p:spPr bwMode="auto">
          <a:xfrm>
            <a:off x="0" y="3511550"/>
            <a:ext cx="9144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1BE48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545A1C7-EF53-7CAA-AA84-58BE6B7143AB}"/>
              </a:ext>
            </a:extLst>
          </p:cNvPr>
          <p:cNvSpPr txBox="1"/>
          <p:nvPr/>
        </p:nvSpPr>
        <p:spPr>
          <a:xfrm>
            <a:off x="914400" y="2069128"/>
            <a:ext cx="7162800" cy="707886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Univers 57 Condensed" charset="0"/>
                <a:ea typeface="Univers 57 Condensed" charset="0"/>
                <a:cs typeface="Univers 57 Condensed" charset="0"/>
              </a:rPr>
              <a:t>Expert Opinion</a:t>
            </a:r>
          </a:p>
        </p:txBody>
      </p:sp>
    </p:spTree>
    <p:extLst>
      <p:ext uri="{BB962C8B-B14F-4D97-AF65-F5344CB8AC3E}">
        <p14:creationId xmlns:p14="http://schemas.microsoft.com/office/powerpoint/2010/main" val="2851777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CB4E2-26C2-343E-6F06-8F88474D3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4A8BAEB-848C-323F-6940-D427801F8EC9}"/>
              </a:ext>
            </a:extLst>
          </p:cNvPr>
          <p:cNvCxnSpPr/>
          <p:nvPr/>
        </p:nvCxnSpPr>
        <p:spPr bwMode="auto">
          <a:xfrm>
            <a:off x="685800" y="1123950"/>
            <a:ext cx="74676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79AA0DB-839F-FF7F-A9A3-DB64B7049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588" y="1200722"/>
            <a:ext cx="5137812" cy="33033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F9B67F-D215-E508-B309-C22FEEF5E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2300" y="229798"/>
            <a:ext cx="4343400" cy="7524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C7D67D-F407-6491-66FE-F6E2B71CEB2F}"/>
              </a:ext>
            </a:extLst>
          </p:cNvPr>
          <p:cNvSpPr txBox="1"/>
          <p:nvPr/>
        </p:nvSpPr>
        <p:spPr>
          <a:xfrm>
            <a:off x="604520" y="583109"/>
            <a:ext cx="5105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8102E"/>
                </a:solidFill>
                <a:latin typeface="Univers 75 Black" charset="0"/>
                <a:ea typeface="Univers 75 Black" charset="0"/>
                <a:cs typeface="Univers 75 Black" charset="0"/>
              </a:rPr>
              <a:t>Expert Opinion</a:t>
            </a:r>
            <a:endParaRPr lang="en-US" sz="2200" dirty="0">
              <a:solidFill>
                <a:srgbClr val="C810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7385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1D872-885C-91F8-4B06-8AC1CCBC4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CEA598-5D5F-AC8C-EEB2-4F7971DC2BA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E9B8F48-927E-CE10-C25B-A00D7A19A65D}"/>
              </a:ext>
            </a:extLst>
          </p:cNvPr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C8102E">
              <a:alpha val="9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C8102E"/>
              </a:solidFill>
              <a:effectLst/>
              <a:latin typeface="Times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CEF4D81-B6A3-263F-F155-A1B9950D3BED}"/>
              </a:ext>
            </a:extLst>
          </p:cNvPr>
          <p:cNvCxnSpPr/>
          <p:nvPr/>
        </p:nvCxnSpPr>
        <p:spPr bwMode="auto">
          <a:xfrm>
            <a:off x="0" y="3511550"/>
            <a:ext cx="9144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1BE48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3AD4811-4CAC-904D-B445-2DB8BEC5962A}"/>
              </a:ext>
            </a:extLst>
          </p:cNvPr>
          <p:cNvSpPr txBox="1"/>
          <p:nvPr/>
        </p:nvSpPr>
        <p:spPr>
          <a:xfrm>
            <a:off x="914400" y="2069128"/>
            <a:ext cx="7162800" cy="707886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Univers 57 Condensed" charset="0"/>
                <a:ea typeface="Univers 57 Condensed" charset="0"/>
                <a:cs typeface="Univers 57 Condensed" charset="0"/>
              </a:rPr>
              <a:t>Bayesian Hierarchical Modeling</a:t>
            </a:r>
          </a:p>
        </p:txBody>
      </p:sp>
    </p:spTree>
    <p:extLst>
      <p:ext uri="{BB962C8B-B14F-4D97-AF65-F5344CB8AC3E}">
        <p14:creationId xmlns:p14="http://schemas.microsoft.com/office/powerpoint/2010/main" val="455988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7BE88-6ECE-4961-561A-5117937AE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03061C8-E2EE-98DD-15F5-9332D0531B22}"/>
              </a:ext>
            </a:extLst>
          </p:cNvPr>
          <p:cNvSpPr txBox="1"/>
          <p:nvPr/>
        </p:nvSpPr>
        <p:spPr>
          <a:xfrm>
            <a:off x="604520" y="583109"/>
            <a:ext cx="5105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8102E"/>
                </a:solidFill>
                <a:latin typeface="Univers 75 Black" charset="0"/>
                <a:ea typeface="Univers 75 Black" charset="0"/>
                <a:cs typeface="Univers 75 Black" charset="0"/>
              </a:rPr>
              <a:t>Influenza-like Illness (ILI) %</a:t>
            </a:r>
            <a:endParaRPr lang="en-US" sz="2200" dirty="0">
              <a:solidFill>
                <a:srgbClr val="C8102E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EA13960-BC1D-D746-4529-951C25FE41AB}"/>
              </a:ext>
            </a:extLst>
          </p:cNvPr>
          <p:cNvCxnSpPr/>
          <p:nvPr/>
        </p:nvCxnSpPr>
        <p:spPr bwMode="auto">
          <a:xfrm>
            <a:off x="685800" y="1123950"/>
            <a:ext cx="74676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B309B908-D1E8-148F-5799-496597B8B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244546"/>
            <a:ext cx="5334000" cy="324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116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307F8-14C7-DD90-42DB-22C5A6839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02AC5C3-C67B-01BA-F3A1-9A3E2BEA020B}"/>
              </a:ext>
            </a:extLst>
          </p:cNvPr>
          <p:cNvSpPr txBox="1"/>
          <p:nvPr/>
        </p:nvSpPr>
        <p:spPr>
          <a:xfrm>
            <a:off x="604520" y="583109"/>
            <a:ext cx="7167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8102E"/>
                </a:solidFill>
                <a:latin typeface="Univers 75 Black" charset="0"/>
              </a:rPr>
              <a:t>Hierarchical Bayesian Model</a:t>
            </a:r>
            <a:endParaRPr lang="en-US" sz="2200" dirty="0">
              <a:solidFill>
                <a:srgbClr val="C8102E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6283A48-3075-8408-5119-F5549D96154F}"/>
              </a:ext>
            </a:extLst>
          </p:cNvPr>
          <p:cNvCxnSpPr/>
          <p:nvPr/>
        </p:nvCxnSpPr>
        <p:spPr bwMode="auto">
          <a:xfrm>
            <a:off x="685800" y="1123950"/>
            <a:ext cx="74676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4" name="Picture 3" descr="A close-up of math symbols&#10;&#10;AI-generated content may be incorrect.">
            <a:extLst>
              <a:ext uri="{FF2B5EF4-FFF2-40B4-BE49-F238E27FC236}">
                <a16:creationId xmlns:a16="http://schemas.microsoft.com/office/drawing/2014/main" id="{D764A9DB-1134-C518-32AA-A157A60CB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04950"/>
            <a:ext cx="2717800" cy="698500"/>
          </a:xfrm>
          <a:prstGeom prst="rect">
            <a:avLst/>
          </a:prstGeom>
        </p:spPr>
      </p:pic>
      <p:pic>
        <p:nvPicPr>
          <p:cNvPr id="8" name="Picture 7" descr="A group of black symbols&#10;&#10;AI-generated content may be incorrect.">
            <a:extLst>
              <a:ext uri="{FF2B5EF4-FFF2-40B4-BE49-F238E27FC236}">
                <a16:creationId xmlns:a16="http://schemas.microsoft.com/office/drawing/2014/main" id="{CA57975F-21A3-7DFA-6714-E7C6CA0F47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500" y="1873250"/>
            <a:ext cx="3111500" cy="31750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8CE56A7-FB4C-5E35-46BC-321341969420}"/>
              </a:ext>
            </a:extLst>
          </p:cNvPr>
          <p:cNvCxnSpPr/>
          <p:nvPr/>
        </p:nvCxnSpPr>
        <p:spPr bwMode="auto">
          <a:xfrm>
            <a:off x="2743200" y="2032000"/>
            <a:ext cx="16764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1BE48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C97FC5C-9DF2-11AB-EA8E-364FF63D0ED6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908048" y="2190750"/>
            <a:ext cx="0" cy="304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1BE48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41DD635-73CC-3680-DC0F-0D2996ABFB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3265" y="2717800"/>
            <a:ext cx="5316829" cy="17224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DB37F3-D12B-4629-D364-043806EFB714}"/>
              </a:ext>
            </a:extLst>
          </p:cNvPr>
          <p:cNvSpPr txBox="1"/>
          <p:nvPr/>
        </p:nvSpPr>
        <p:spPr>
          <a:xfrm>
            <a:off x="1576066" y="2495550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1BE48"/>
                </a:solidFill>
              </a:rPr>
              <a:t>SIR</a:t>
            </a:r>
          </a:p>
        </p:txBody>
      </p:sp>
    </p:spTree>
    <p:extLst>
      <p:ext uri="{BB962C8B-B14F-4D97-AF65-F5344CB8AC3E}">
        <p14:creationId xmlns:p14="http://schemas.microsoft.com/office/powerpoint/2010/main" val="1021185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8C4D6-D027-590B-9D9D-85DF9160B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617FDFA-735B-6A6E-4FD1-7CC661195976}"/>
              </a:ext>
            </a:extLst>
          </p:cNvPr>
          <p:cNvSpPr txBox="1"/>
          <p:nvPr/>
        </p:nvSpPr>
        <p:spPr>
          <a:xfrm>
            <a:off x="604520" y="583109"/>
            <a:ext cx="5105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8102E"/>
                </a:solidFill>
                <a:latin typeface="Univers 75 Black" charset="0"/>
                <a:ea typeface="Univers 75 Black" charset="0"/>
                <a:cs typeface="Univers 75 Black" charset="0"/>
              </a:rPr>
              <a:t>Influenza Hospitalizations</a:t>
            </a:r>
            <a:endParaRPr lang="en-US" sz="2200" dirty="0">
              <a:solidFill>
                <a:srgbClr val="C8102E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5664E46-D10C-9547-4D4A-711188C0E4AD}"/>
              </a:ext>
            </a:extLst>
          </p:cNvPr>
          <p:cNvCxnSpPr/>
          <p:nvPr/>
        </p:nvCxnSpPr>
        <p:spPr bwMode="auto">
          <a:xfrm>
            <a:off x="685800" y="1123950"/>
            <a:ext cx="74676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7" name="Picture 6" descr="A graph of different states&#10;&#10;AI-generated content may be incorrect.">
            <a:extLst>
              <a:ext uri="{FF2B5EF4-FFF2-40B4-BE49-F238E27FC236}">
                <a16:creationId xmlns:a16="http://schemas.microsoft.com/office/drawing/2014/main" id="{34D5AB78-7BC5-FC54-F957-7C23499A7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63622"/>
            <a:ext cx="5638800" cy="333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63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8DD77B6-B6E3-0D51-AA6E-B2F8C998C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8179738-B326-681C-0E23-C7D92F5F2FD1}"/>
              </a:ext>
            </a:extLst>
          </p:cNvPr>
          <p:cNvSpPr txBox="1"/>
          <p:nvPr/>
        </p:nvSpPr>
        <p:spPr>
          <a:xfrm>
            <a:off x="604520" y="583109"/>
            <a:ext cx="5105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8102E"/>
                </a:solidFill>
                <a:latin typeface="Univers 75 Black" charset="0"/>
                <a:ea typeface="Univers 75 Black" charset="0"/>
                <a:cs typeface="Univers 75 Black" charset="0"/>
              </a:rPr>
              <a:t>ILI % v Hospitalizations</a:t>
            </a:r>
            <a:endParaRPr lang="en-US" sz="2200" dirty="0">
              <a:solidFill>
                <a:srgbClr val="C8102E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48E3FC3-9C96-E022-AB2A-6536BEADC3E1}"/>
              </a:ext>
            </a:extLst>
          </p:cNvPr>
          <p:cNvCxnSpPr/>
          <p:nvPr/>
        </p:nvCxnSpPr>
        <p:spPr bwMode="auto">
          <a:xfrm>
            <a:off x="685800" y="1123950"/>
            <a:ext cx="74676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3" name="Picture 2" descr="A graph of different numbers&#10;&#10;AI-generated content may be incorrect.">
            <a:extLst>
              <a:ext uri="{FF2B5EF4-FFF2-40B4-BE49-F238E27FC236}">
                <a16:creationId xmlns:a16="http://schemas.microsoft.com/office/drawing/2014/main" id="{32CCDC83-A103-3CE9-97E4-55EB0C4F0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92" y="1233905"/>
            <a:ext cx="547370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8509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B9A36-69FC-26E0-F997-E3EDABAD5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DA7B3A5-99C3-8777-4515-9B94B1810205}"/>
              </a:ext>
            </a:extLst>
          </p:cNvPr>
          <p:cNvSpPr txBox="1"/>
          <p:nvPr/>
        </p:nvSpPr>
        <p:spPr>
          <a:xfrm>
            <a:off x="604520" y="583109"/>
            <a:ext cx="5105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8102E"/>
                </a:solidFill>
                <a:latin typeface="Univers 75 Black" charset="0"/>
              </a:rPr>
              <a:t>Modeling ILI % - Asymmetric Gaussian</a:t>
            </a:r>
            <a:endParaRPr lang="en-US" sz="2200" dirty="0">
              <a:solidFill>
                <a:srgbClr val="C8102E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0627557-5AAC-730D-E917-C06412741DA2}"/>
              </a:ext>
            </a:extLst>
          </p:cNvPr>
          <p:cNvCxnSpPr/>
          <p:nvPr/>
        </p:nvCxnSpPr>
        <p:spPr bwMode="auto">
          <a:xfrm>
            <a:off x="685800" y="1123950"/>
            <a:ext cx="74676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4" name="Picture 3" descr="A graph with lines and symbols&#10;&#10;AI-generated content may be incorrect.">
            <a:extLst>
              <a:ext uri="{FF2B5EF4-FFF2-40B4-BE49-F238E27FC236}">
                <a16:creationId xmlns:a16="http://schemas.microsoft.com/office/drawing/2014/main" id="{7F6CFD8B-8B34-31D9-24C5-AECC06BDC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" y="1291969"/>
            <a:ext cx="4219283" cy="2803781"/>
          </a:xfrm>
          <a:prstGeom prst="rect">
            <a:avLst/>
          </a:prstGeom>
        </p:spPr>
      </p:pic>
      <p:pic>
        <p:nvPicPr>
          <p:cNvPr id="2" name="Picture 1" descr="A graph of a graph of a number of days&#10;&#10;AI-generated content may be incorrect.">
            <a:extLst>
              <a:ext uri="{FF2B5EF4-FFF2-40B4-BE49-F238E27FC236}">
                <a16:creationId xmlns:a16="http://schemas.microsoft.com/office/drawing/2014/main" id="{07CFF30F-0CB7-AE69-84B5-85269F48E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1215753"/>
            <a:ext cx="4686300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11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BC4C8-E3A7-6D6C-D47A-0364E215E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C8D18DC-82CA-FFDA-C1C5-3570E01FF2CE}"/>
              </a:ext>
            </a:extLst>
          </p:cNvPr>
          <p:cNvSpPr txBox="1"/>
          <p:nvPr/>
        </p:nvSpPr>
        <p:spPr>
          <a:xfrm>
            <a:off x="604520" y="583109"/>
            <a:ext cx="7167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8102E"/>
                </a:solidFill>
                <a:latin typeface="Univers 75 Black" charset="0"/>
              </a:rPr>
              <a:t>Hierarchical Bayesian Model</a:t>
            </a:r>
            <a:endParaRPr lang="en-US" sz="2200" dirty="0">
              <a:solidFill>
                <a:srgbClr val="C8102E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0C9B8F-290D-4415-036D-3CC560FA0EC2}"/>
              </a:ext>
            </a:extLst>
          </p:cNvPr>
          <p:cNvCxnSpPr/>
          <p:nvPr/>
        </p:nvCxnSpPr>
        <p:spPr bwMode="auto">
          <a:xfrm>
            <a:off x="685800" y="1123950"/>
            <a:ext cx="74676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4" name="Picture 3" descr="A close-up of math symbols&#10;&#10;AI-generated content may be incorrect.">
            <a:extLst>
              <a:ext uri="{FF2B5EF4-FFF2-40B4-BE49-F238E27FC236}">
                <a16:creationId xmlns:a16="http://schemas.microsoft.com/office/drawing/2014/main" id="{526E2F02-C27E-3CAD-A107-9F80EB185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04950"/>
            <a:ext cx="2717800" cy="698500"/>
          </a:xfrm>
          <a:prstGeom prst="rect">
            <a:avLst/>
          </a:prstGeom>
        </p:spPr>
      </p:pic>
      <p:pic>
        <p:nvPicPr>
          <p:cNvPr id="6" name="Picture 5" descr="A group of black text&#10;&#10;AI-generated content may be incorrect.">
            <a:extLst>
              <a:ext uri="{FF2B5EF4-FFF2-40B4-BE49-F238E27FC236}">
                <a16:creationId xmlns:a16="http://schemas.microsoft.com/office/drawing/2014/main" id="{2D195F3B-2D92-F6FB-D14D-8BB4085FA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" y="2343150"/>
            <a:ext cx="3517900" cy="939800"/>
          </a:xfrm>
          <a:prstGeom prst="rect">
            <a:avLst/>
          </a:prstGeom>
        </p:spPr>
      </p:pic>
      <p:pic>
        <p:nvPicPr>
          <p:cNvPr id="8" name="Picture 7" descr="A group of black symbols&#10;&#10;AI-generated content may be incorrect.">
            <a:extLst>
              <a:ext uri="{FF2B5EF4-FFF2-40B4-BE49-F238E27FC236}">
                <a16:creationId xmlns:a16="http://schemas.microsoft.com/office/drawing/2014/main" id="{E65AD6DB-B72E-6E7F-7C40-F92A91A8AF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8500" y="1873250"/>
            <a:ext cx="3111500" cy="317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FF3C8E-5F2E-282E-EE05-B29C572CF3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254" y="2647950"/>
            <a:ext cx="1181100" cy="304800"/>
          </a:xfrm>
          <a:prstGeom prst="rect">
            <a:avLst/>
          </a:prstGeom>
        </p:spPr>
      </p:pic>
      <p:pic>
        <p:nvPicPr>
          <p:cNvPr id="14" name="Picture 13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84ACCB83-77BD-6657-EAF6-173DA64A17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2400" y="3833113"/>
            <a:ext cx="4749800" cy="6477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F14B4D1-8114-865C-7B9D-802C507B461D}"/>
              </a:ext>
            </a:extLst>
          </p:cNvPr>
          <p:cNvSpPr txBox="1"/>
          <p:nvPr/>
        </p:nvSpPr>
        <p:spPr>
          <a:xfrm>
            <a:off x="3886200" y="3484371"/>
            <a:ext cx="14993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8102E"/>
                </a:solidFill>
                <a:latin typeface="+mn-lt"/>
              </a:rPr>
              <a:t>Hospitalizations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53C782C-A9A2-63BF-99D4-79B81C19E0B1}"/>
              </a:ext>
            </a:extLst>
          </p:cNvPr>
          <p:cNvCxnSpPr/>
          <p:nvPr/>
        </p:nvCxnSpPr>
        <p:spPr bwMode="auto">
          <a:xfrm>
            <a:off x="2743200" y="2032000"/>
            <a:ext cx="16764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1BE48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CB3EC84-241F-D50E-47C1-A92382074784}"/>
              </a:ext>
            </a:extLst>
          </p:cNvPr>
          <p:cNvCxnSpPr>
            <a:cxnSpLocks/>
          </p:cNvCxnSpPr>
          <p:nvPr/>
        </p:nvCxnSpPr>
        <p:spPr bwMode="auto">
          <a:xfrm>
            <a:off x="1908048" y="2190750"/>
            <a:ext cx="0" cy="304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1BE48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5250E41-AE66-A478-9467-B94392D3389D}"/>
              </a:ext>
            </a:extLst>
          </p:cNvPr>
          <p:cNvCxnSpPr>
            <a:cxnSpLocks/>
          </p:cNvCxnSpPr>
          <p:nvPr/>
        </p:nvCxnSpPr>
        <p:spPr bwMode="auto">
          <a:xfrm>
            <a:off x="4203044" y="2813050"/>
            <a:ext cx="59755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1BE48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C9D8F30-B2B2-6EDA-A18A-5AE0375EF3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27804" y="175277"/>
            <a:ext cx="3517900" cy="124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888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F3300-23BA-61E0-BA2D-5A177255B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6FF47F2-A73A-CCB1-0327-9092AAD07FC3}"/>
              </a:ext>
            </a:extLst>
          </p:cNvPr>
          <p:cNvSpPr txBox="1"/>
          <p:nvPr/>
        </p:nvSpPr>
        <p:spPr>
          <a:xfrm>
            <a:off x="604520" y="583109"/>
            <a:ext cx="7167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8102E"/>
                </a:solidFill>
                <a:latin typeface="Univers 75 Black" charset="0"/>
              </a:rPr>
              <a:t>Model Performance</a:t>
            </a:r>
            <a:endParaRPr lang="en-US" sz="2200" dirty="0">
              <a:solidFill>
                <a:srgbClr val="C8102E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B5550E-181D-9A9C-1460-775302768AFB}"/>
              </a:ext>
            </a:extLst>
          </p:cNvPr>
          <p:cNvCxnSpPr/>
          <p:nvPr/>
        </p:nvCxnSpPr>
        <p:spPr bwMode="auto">
          <a:xfrm>
            <a:off x="685800" y="1123950"/>
            <a:ext cx="74676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3" name="Picture 2" descr="A graph of different types of graphs&#10;&#10;AI-generated content may be incorrect.">
            <a:extLst>
              <a:ext uri="{FF2B5EF4-FFF2-40B4-BE49-F238E27FC236}">
                <a16:creationId xmlns:a16="http://schemas.microsoft.com/office/drawing/2014/main" id="{1CDFEAFA-0776-BE27-15F0-A3832E25E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291" y="1530363"/>
            <a:ext cx="7806909" cy="28701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36CD68-21C3-FA85-5E65-BFB5994C0620}"/>
              </a:ext>
            </a:extLst>
          </p:cNvPr>
          <p:cNvSpPr txBox="1"/>
          <p:nvPr/>
        </p:nvSpPr>
        <p:spPr>
          <a:xfrm>
            <a:off x="750173" y="1318796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8102E"/>
                </a:solidFill>
                <a:latin typeface="+mn-lt"/>
              </a:rPr>
              <a:t>Linear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5CDD84-78B6-C458-E982-ED35710D7D37}"/>
              </a:ext>
            </a:extLst>
          </p:cNvPr>
          <p:cNvSpPr txBox="1"/>
          <p:nvPr/>
        </p:nvSpPr>
        <p:spPr>
          <a:xfrm>
            <a:off x="4572000" y="1301755"/>
            <a:ext cx="10008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8102E"/>
                </a:solidFill>
                <a:latin typeface="+mn-lt"/>
              </a:rPr>
              <a:t>Quadratic</a:t>
            </a:r>
          </a:p>
        </p:txBody>
      </p:sp>
    </p:spTree>
    <p:extLst>
      <p:ext uri="{BB962C8B-B14F-4D97-AF65-F5344CB8AC3E}">
        <p14:creationId xmlns:p14="http://schemas.microsoft.com/office/powerpoint/2010/main" val="23507333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2EE55-2806-D45E-B2CA-E51FCEC3B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43747ED-BF00-29B6-E49A-105BC6474972}"/>
              </a:ext>
            </a:extLst>
          </p:cNvPr>
          <p:cNvSpPr txBox="1"/>
          <p:nvPr/>
        </p:nvSpPr>
        <p:spPr>
          <a:xfrm>
            <a:off x="448694" y="616032"/>
            <a:ext cx="83430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8102E"/>
                </a:solidFill>
                <a:latin typeface="Univers 75 Black" charset="0"/>
                <a:ea typeface="Univers 75 Black" charset="0"/>
                <a:cs typeface="Univers 75 Black" charset="0"/>
              </a:rPr>
              <a:t>Recover true distribution from a set of quantiles?</a:t>
            </a:r>
          </a:p>
          <a:p>
            <a:endParaRPr lang="en-US" sz="2200" b="1" dirty="0">
              <a:solidFill>
                <a:srgbClr val="C8102E"/>
              </a:solidFill>
              <a:latin typeface="Univers 75 Black" charset="0"/>
              <a:ea typeface="Univers 75 Black" charset="0"/>
              <a:cs typeface="Univers 75 Black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9D0811-9D03-CE72-F6D5-390CAF752BFB}"/>
              </a:ext>
            </a:extLst>
          </p:cNvPr>
          <p:cNvCxnSpPr>
            <a:cxnSpLocks/>
          </p:cNvCxnSpPr>
          <p:nvPr/>
        </p:nvCxnSpPr>
        <p:spPr bwMode="auto">
          <a:xfrm>
            <a:off x="457200" y="1123950"/>
            <a:ext cx="76962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27D2CFB-02D3-46FA-8482-3760F49DB679}"/>
              </a:ext>
            </a:extLst>
          </p:cNvPr>
          <p:cNvCxnSpPr/>
          <p:nvPr/>
        </p:nvCxnSpPr>
        <p:spPr bwMode="auto">
          <a:xfrm>
            <a:off x="8458200" y="4816475"/>
            <a:ext cx="0" cy="152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AB04454-5328-4160-BE23-6AB1CF06F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341" y="1601164"/>
            <a:ext cx="4936659" cy="25415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5C63A0-7E71-67FC-B073-1A86427D6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19250"/>
            <a:ext cx="3640324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1303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48694" y="616032"/>
            <a:ext cx="83430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8102E"/>
                </a:solidFill>
                <a:latin typeface="Univers 75 Black" charset="0"/>
                <a:ea typeface="Univers 75 Black" charset="0"/>
                <a:cs typeface="Univers 75 Black" charset="0"/>
              </a:rPr>
              <a:t>Making Best Even Better</a:t>
            </a:r>
          </a:p>
          <a:p>
            <a:endParaRPr lang="en-US" sz="2200" b="1" dirty="0">
              <a:solidFill>
                <a:srgbClr val="C8102E"/>
              </a:solidFill>
              <a:latin typeface="Univers 75 Black" charset="0"/>
              <a:ea typeface="Univers 75 Black" charset="0"/>
              <a:cs typeface="Univers 75 Black" charset="0"/>
            </a:endParaRPr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 bwMode="auto">
          <a:xfrm>
            <a:off x="457200" y="1123950"/>
            <a:ext cx="76962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/>
          <p:nvPr/>
        </p:nvCxnSpPr>
        <p:spPr bwMode="auto">
          <a:xfrm>
            <a:off x="8458200" y="4816475"/>
            <a:ext cx="0" cy="152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F3DC230-BD42-E0DA-F95A-10E4E405AFB0}"/>
              </a:ext>
            </a:extLst>
          </p:cNvPr>
          <p:cNvSpPr txBox="1"/>
          <p:nvPr/>
        </p:nvSpPr>
        <p:spPr>
          <a:xfrm>
            <a:off x="685800" y="1428750"/>
            <a:ext cx="353654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Massive Collaborations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Probabilistic Forecasts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Forecast Next Pandemic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Individual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Utilizing Outside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Ensembles</a:t>
            </a:r>
          </a:p>
        </p:txBody>
      </p:sp>
    </p:spTree>
    <p:extLst>
      <p:ext uri="{BB962C8B-B14F-4D97-AF65-F5344CB8AC3E}">
        <p14:creationId xmlns:p14="http://schemas.microsoft.com/office/powerpoint/2010/main" val="15784162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04520" y="1276350"/>
            <a:ext cx="3967480" cy="227010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600" b="1" dirty="0">
                <a:solidFill>
                  <a:srgbClr val="C8102E"/>
                </a:solidFill>
                <a:latin typeface="Univers 75 Black" charset="0"/>
                <a:ea typeface="Univers 75 Black" charset="0"/>
                <a:cs typeface="Univers 75 Black" charset="0"/>
              </a:rPr>
              <a:t>Jarad Niemi</a:t>
            </a:r>
          </a:p>
          <a:p>
            <a:pPr>
              <a:spcBef>
                <a:spcPts val="0"/>
              </a:spcBef>
            </a:pPr>
            <a:r>
              <a:rPr lang="en-US" sz="1400" i="1" dirty="0">
                <a:solidFill>
                  <a:srgbClr val="ACA39A"/>
                </a:solidFill>
                <a:latin typeface="Univers 55 Oblique" charset="0"/>
                <a:ea typeface="Univers 55 Oblique" charset="0"/>
                <a:cs typeface="Univers 55 Oblique" charset="0"/>
              </a:rPr>
              <a:t>Professor of Statistics</a:t>
            </a:r>
          </a:p>
          <a:p>
            <a:pPr>
              <a:spcBef>
                <a:spcPts val="0"/>
              </a:spcBef>
            </a:pPr>
            <a:r>
              <a:rPr lang="en-US" sz="1400" i="1" dirty="0">
                <a:solidFill>
                  <a:srgbClr val="ACA39A"/>
                </a:solidFill>
                <a:latin typeface="Univers 55 Oblique" charset="0"/>
                <a:ea typeface="Univers 55 Oblique" charset="0"/>
                <a:cs typeface="Univers 55 Oblique" charset="0"/>
              </a:rPr>
              <a:t>Statistical Consulting Director</a:t>
            </a:r>
          </a:p>
          <a:p>
            <a:pPr>
              <a:spcBef>
                <a:spcPts val="0"/>
              </a:spcBef>
            </a:pPr>
            <a:r>
              <a:rPr lang="en-US" sz="1400" i="1" dirty="0">
                <a:solidFill>
                  <a:srgbClr val="ACA39A"/>
                </a:solidFill>
                <a:latin typeface="Univers 55 Oblique" charset="0"/>
                <a:ea typeface="Univers 55 Oblique" charset="0"/>
                <a:cs typeface="Univers 55 Oblique" charset="0"/>
              </a:rPr>
              <a:t>Data Science Program Director</a:t>
            </a:r>
          </a:p>
          <a:p>
            <a:pPr>
              <a:spcBef>
                <a:spcPts val="0"/>
              </a:spcBef>
            </a:pPr>
            <a:endParaRPr lang="en-US" sz="1400" b="1" dirty="0">
              <a:solidFill>
                <a:srgbClr val="C8102E"/>
              </a:solidFill>
              <a:latin typeface="Univers 75 Black" charset="0"/>
              <a:ea typeface="Univers 75 Black" charset="0"/>
              <a:cs typeface="Univers 75 Black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 err="1">
                <a:solidFill>
                  <a:srgbClr val="7A6E67"/>
                </a:solidFill>
                <a:latin typeface="Univers 47 Condensed Light" charset="0"/>
                <a:ea typeface="Univers 47 Condensed Light" charset="0"/>
                <a:cs typeface="Univers 47 Condensed Light" charset="0"/>
              </a:rPr>
              <a:t>niemi@iastate.edu</a:t>
            </a:r>
            <a:endParaRPr lang="en-US" sz="1600" dirty="0">
              <a:solidFill>
                <a:srgbClr val="7A6E67"/>
              </a:solidFill>
              <a:latin typeface="Univers 47 Condensed Light" charset="0"/>
              <a:ea typeface="Univers 47 Condensed Light" charset="0"/>
              <a:cs typeface="Univers 47 Condensed Light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>
                <a:solidFill>
                  <a:srgbClr val="7A6E67"/>
                </a:solidFill>
                <a:latin typeface="Univers 47 Condensed Light" charset="0"/>
                <a:ea typeface="Univers 47 Condensed Light" charset="0"/>
                <a:cs typeface="Univers 47 Condensed Light" charset="0"/>
              </a:rPr>
              <a:t>(515)-294-8679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 err="1">
                <a:solidFill>
                  <a:srgbClr val="7A6E67"/>
                </a:solidFill>
                <a:latin typeface="Univers 47 Condensed Light" charset="0"/>
                <a:ea typeface="Univers 47 Condensed Light" charset="0"/>
                <a:cs typeface="Univers 47 Condensed Light" charset="0"/>
              </a:rPr>
              <a:t>www.stat.iastate.edu</a:t>
            </a:r>
            <a:r>
              <a:rPr lang="en-US" sz="1600" dirty="0">
                <a:solidFill>
                  <a:srgbClr val="7A6E67"/>
                </a:solidFill>
                <a:latin typeface="Univers 47 Condensed Light" charset="0"/>
                <a:ea typeface="Univers 47 Condensed Light" charset="0"/>
                <a:cs typeface="Univers 47 Condensed Light" charset="0"/>
              </a:rPr>
              <a:t>/people/</a:t>
            </a:r>
            <a:r>
              <a:rPr lang="en-US" sz="1600" dirty="0" err="1">
                <a:solidFill>
                  <a:srgbClr val="7A6E67"/>
                </a:solidFill>
                <a:latin typeface="Univers 47 Condensed Light" charset="0"/>
                <a:ea typeface="Univers 47 Condensed Light" charset="0"/>
                <a:cs typeface="Univers 47 Condensed Light" charset="0"/>
              </a:rPr>
              <a:t>jarad-niemi</a:t>
            </a:r>
            <a:endParaRPr lang="en-US" sz="1600" dirty="0">
              <a:solidFill>
                <a:srgbClr val="7A6E67"/>
              </a:solidFill>
              <a:latin typeface="Univers 47 Condensed Light" charset="0"/>
              <a:ea typeface="Univers 47 Condensed Light" charset="0"/>
              <a:cs typeface="Univers 47 Condensed Light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4519" y="583109"/>
            <a:ext cx="775018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8102E"/>
                </a:solidFill>
                <a:latin typeface="Univers 75 Black" charset="0"/>
                <a:ea typeface="Univers 75 Black" charset="0"/>
                <a:cs typeface="Univers 75 Black" charset="0"/>
              </a:rPr>
              <a:t>Thank You</a:t>
            </a:r>
          </a:p>
          <a:p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 bwMode="auto">
          <a:xfrm>
            <a:off x="685800" y="1123950"/>
            <a:ext cx="7620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/>
          <p:nvPr/>
        </p:nvCxnSpPr>
        <p:spPr bwMode="auto">
          <a:xfrm>
            <a:off x="8458200" y="4816475"/>
            <a:ext cx="0" cy="152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4724400" y="1276350"/>
            <a:ext cx="4419601" cy="21623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600" b="1" dirty="0">
                <a:solidFill>
                  <a:srgbClr val="C8102E"/>
                </a:solidFill>
                <a:latin typeface="Univers 75 Black" charset="0"/>
                <a:ea typeface="Univers 75 Black" charset="0"/>
                <a:cs typeface="Univers 75 Black" charset="0"/>
              </a:rPr>
              <a:t>Spencer Wadsworth</a:t>
            </a:r>
          </a:p>
          <a:p>
            <a:pPr>
              <a:spcBef>
                <a:spcPts val="0"/>
              </a:spcBef>
            </a:pPr>
            <a:r>
              <a:rPr lang="en-US" sz="1400" i="1" dirty="0">
                <a:solidFill>
                  <a:srgbClr val="ACA39A"/>
                </a:solidFill>
                <a:latin typeface="Univers 55 Oblique" charset="0"/>
                <a:ea typeface="Univers 55 Oblique" charset="0"/>
                <a:cs typeface="Univers 55 Oblique" charset="0"/>
              </a:rPr>
              <a:t>Postdoctoral Associate w/ Ofer Harel (UConn)</a:t>
            </a:r>
          </a:p>
          <a:p>
            <a:pPr>
              <a:spcBef>
                <a:spcPts val="0"/>
              </a:spcBef>
            </a:pPr>
            <a:r>
              <a:rPr lang="en-US" sz="1400" i="1" dirty="0">
                <a:solidFill>
                  <a:srgbClr val="ACA39A"/>
                </a:solidFill>
                <a:latin typeface="Univers 55 Oblique" charset="0"/>
                <a:ea typeface="Univers 55 Oblique" charset="0"/>
                <a:cs typeface="Univers 55 Oblique" charset="0"/>
              </a:rPr>
              <a:t>Joining BYU as an Assistant Professor in Fall 2026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1400" b="1" dirty="0">
              <a:solidFill>
                <a:srgbClr val="C8102E"/>
              </a:solidFill>
              <a:latin typeface="Univers 75 Black" charset="0"/>
              <a:ea typeface="Univers 75 Black" charset="0"/>
              <a:cs typeface="Univers 75 Black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>
                <a:solidFill>
                  <a:srgbClr val="7A6E67"/>
                </a:solidFill>
                <a:latin typeface="Univers 47 Condensed Light" charset="0"/>
                <a:ea typeface="Univers 47 Condensed Light" charset="0"/>
                <a:cs typeface="Univers 47 Condensed Light" charset="0"/>
                <a:hlinkClick r:id="rId3"/>
              </a:rPr>
              <a:t>iac25002@uconn.edu</a:t>
            </a:r>
            <a:endParaRPr lang="en-US" sz="1600" dirty="0">
              <a:solidFill>
                <a:srgbClr val="7A6E67"/>
              </a:solidFill>
              <a:latin typeface="Univers 47 Condensed Light" charset="0"/>
              <a:ea typeface="Univers 47 Condensed Light" charset="0"/>
              <a:cs typeface="Univers 47 Condensed Light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1600" dirty="0">
              <a:solidFill>
                <a:srgbClr val="7A6E67"/>
              </a:solidFill>
              <a:latin typeface="Univers 47 Condensed Light" charset="0"/>
              <a:ea typeface="Univers 47 Condensed Light" charset="0"/>
              <a:cs typeface="Univers 47 Condensed Light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 err="1">
                <a:solidFill>
                  <a:srgbClr val="7A6E67"/>
                </a:solidFill>
                <a:latin typeface="Univers 47 Condensed Light" charset="0"/>
                <a:ea typeface="Univers 47 Condensed Light" charset="0"/>
                <a:cs typeface="Univers 47 Condensed Light" charset="0"/>
              </a:rPr>
              <a:t>statistics.uconn.edu</a:t>
            </a:r>
            <a:r>
              <a:rPr lang="en-US" sz="1600" dirty="0">
                <a:solidFill>
                  <a:srgbClr val="7A6E67"/>
                </a:solidFill>
                <a:latin typeface="Univers 47 Condensed Light" charset="0"/>
                <a:ea typeface="Univers 47 Condensed Light" charset="0"/>
                <a:cs typeface="Univers 47 Condensed Light" charset="0"/>
              </a:rPr>
              <a:t>/person/spencer-</a:t>
            </a:r>
            <a:r>
              <a:rPr lang="en-US" sz="1600" dirty="0" err="1">
                <a:solidFill>
                  <a:srgbClr val="7A6E67"/>
                </a:solidFill>
                <a:latin typeface="Univers 47 Condensed Light" charset="0"/>
                <a:ea typeface="Univers 47 Condensed Light" charset="0"/>
                <a:cs typeface="Univers 47 Condensed Light" charset="0"/>
              </a:rPr>
              <a:t>wadsworth</a:t>
            </a:r>
            <a:r>
              <a:rPr lang="en-US" sz="1600" dirty="0">
                <a:solidFill>
                  <a:srgbClr val="7A6E67"/>
                </a:solidFill>
                <a:latin typeface="Univers 47 Condensed Light" charset="0"/>
                <a:ea typeface="Univers 47 Condensed Light" charset="0"/>
                <a:cs typeface="Univers 47 Condensed Light" charset="0"/>
              </a:rPr>
              <a:t>/</a:t>
            </a:r>
          </a:p>
        </p:txBody>
      </p:sp>
      <p:cxnSp>
        <p:nvCxnSpPr>
          <p:cNvPr id="12" name="Straight Connector 11"/>
          <p:cNvCxnSpPr>
            <a:cxnSpLocks/>
          </p:cNvCxnSpPr>
          <p:nvPr/>
        </p:nvCxnSpPr>
        <p:spPr bwMode="auto">
          <a:xfrm>
            <a:off x="4724400" y="1134397"/>
            <a:ext cx="0" cy="231749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453149747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Univers 67 CondensedBold"/>
        <a:ea typeface=""/>
        <a:cs typeface=""/>
      </a:majorFont>
      <a:minorFont>
        <a:latin typeface="Univers 67 Condensed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Widescreen-WithNumbers_2A" id="{CC13C5E8-C143-B944-BA97-1527C21DCBC9}" vid="{EEBF89D1-1DB3-9E46-A86B-BE71188432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</Template>
  <TotalTime>2801</TotalTime>
  <Words>407</Words>
  <Application>Microsoft Macintosh PowerPoint</Application>
  <PresentationFormat>On-screen Show (16:9)</PresentationFormat>
  <Paragraphs>78</Paragraphs>
  <Slides>25</Slides>
  <Notes>16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Arial</vt:lpstr>
      <vt:lpstr>Calibri</vt:lpstr>
      <vt:lpstr>ITC Berkeley Oldstyle Book</vt:lpstr>
      <vt:lpstr>ITC Berkeley Oldstyle Medium</vt:lpstr>
      <vt:lpstr>Times</vt:lpstr>
      <vt:lpstr>Univers 47 Condensed Light</vt:lpstr>
      <vt:lpstr>Univers 55 Oblique</vt:lpstr>
      <vt:lpstr>Univers 57 Condensed</vt:lpstr>
      <vt:lpstr>Univers 67 CondensedBold</vt:lpstr>
      <vt:lpstr>Univers 75 Black</vt:lpstr>
      <vt:lpstr>PowerPoint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Niemi, Jarad [STAT]</dc:creator>
  <cp:lastModifiedBy>Niemi, Jarad [STAT]</cp:lastModifiedBy>
  <cp:revision>11</cp:revision>
  <cp:lastPrinted>2019-02-08T13:46:09Z</cp:lastPrinted>
  <dcterms:created xsi:type="dcterms:W3CDTF">2025-04-28T16:35:52Z</dcterms:created>
  <dcterms:modified xsi:type="dcterms:W3CDTF">2026-04-24T12:07:50Z</dcterms:modified>
</cp:coreProperties>
</file>