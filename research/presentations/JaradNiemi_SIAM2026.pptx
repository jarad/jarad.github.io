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2" r:id="rId2"/>
    <p:sldId id="260" r:id="rId3"/>
    <p:sldId id="269" r:id="rId4"/>
    <p:sldId id="270" r:id="rId5"/>
    <p:sldId id="271" r:id="rId6"/>
    <p:sldId id="274" r:id="rId7"/>
    <p:sldId id="268" r:id="rId8"/>
    <p:sldId id="273" r:id="rId9"/>
    <p:sldId id="272" r:id="rId10"/>
    <p:sldId id="275" r:id="rId11"/>
    <p:sldId id="276" r:id="rId12"/>
    <p:sldId id="277" r:id="rId13"/>
    <p:sldId id="278" r:id="rId14"/>
    <p:sldId id="280" r:id="rId15"/>
    <p:sldId id="279" r:id="rId16"/>
    <p:sldId id="281" r:id="rId1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  <a:srgbClr val="ACA39A"/>
    <a:srgbClr val="F1BE48"/>
    <a:srgbClr val="7A6E67"/>
    <a:srgbClr val="CE1126"/>
    <a:srgbClr val="6E6259"/>
    <a:srgbClr val="010000"/>
    <a:srgbClr val="F2BF49"/>
    <a:srgbClr val="ADA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03" autoAdjust="0"/>
    <p:restoredTop sz="86370" autoAdjust="0"/>
  </p:normalViewPr>
  <p:slideViewPr>
    <p:cSldViewPr>
      <p:cViewPr varScale="1">
        <p:scale>
          <a:sx n="96" d="100"/>
          <a:sy n="96" d="100"/>
        </p:scale>
        <p:origin x="176" y="96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5A0C9-E830-1241-BEA3-6925DA004ECF}" type="datetimeFigureOut">
              <a:rPr lang="en-US" smtClean="0"/>
              <a:pPr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84522-76EF-EF4D-8870-07F3436BA4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0241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082-6AF3-024B-A14D-C5AD8123919E}" type="datetimeFigureOut">
              <a:rPr lang="en-US" smtClean="0"/>
              <a:pPr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6D18E-8B09-B24B-9169-4FC527B8D8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925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48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20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929E-2567-5501-49CD-D2A5F69E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FF1C4-5BDF-4D50-F656-ACDB7DAF2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135FF-FB1A-0724-11D9-2FB6276E3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C64C2-FF6B-25CF-4CBE-B76130328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95E21-D03D-1A39-3062-22EEB1FB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67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F5F6-8C0D-3462-2E84-B4AD0886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F73BA-0EFC-7910-0854-39FB976BE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9B745-E362-EC92-18FB-AAAFFE2E5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specifications that the 0.1-quantile was 8000 Hours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27728-6C11-1A03-9DA1-FE8DA29A0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527F2-527D-A700-18C7-6C09EA81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89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355E7-DDE3-D075-C0FA-9240FFED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68AEA-A1DB-A0F3-0B0D-F5202F54A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A8F93-02C5-AFC2-3137-19E7F1822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7BC7F-C3A1-1A9C-8DAC-DB3FD2DDE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73CEC-F9C8-738C-2A52-FD5DE7D5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55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0B1E-BA9A-4EBD-404F-E49332DE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46055-B393-A60F-7852-9CA937625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1C3AE-DD1D-CD43-2521-6722CDE14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 is shape, eta is scale, eta is ~= 0.63 quantile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53159-986F-BE8B-8A44-104A6EE25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CAF3-3594-BD11-5587-4DD5A8E2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38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7A78-EAB0-06DD-294D-A292668F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59CB6-9544-288A-C5F6-CD7192864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CDC1F-24D4-2AB2-179D-DAA1C7C80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23963-9437-73CA-377F-D2715D8AF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461E9-FC9B-624E-94B9-35350366F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07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64A23-03B3-5B9F-6DC7-75239D98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2083A-C677-AFA2-8DE0-EAF7AEB1A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195A2-8CCA-B8B6-A1FF-38EC9A98F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5425B-466C-21FE-8674-499AE3A90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B7B66-56A4-EE70-5B94-0597B62A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84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2CA5-8925-C6DF-7251-4D41CF68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D24B2-1A2E-5FCD-05D6-C2C493017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FE8FB-187D-2713-7F73-61CB70915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B6A64-3CDB-2EB8-9012-A5C2A7A1F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25D6D-62D4-76C6-4F5A-979D8F159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97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F5D3-2194-05F6-C3E0-246E1500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779AA-DC02-E41D-0D1E-2EC72A5C2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2B8DD-817F-F1C7-CC12-F54B120C3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2286D-4344-5B20-53F8-CB35B9412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6F83A-CC0C-EC1D-BAE6-8CB7CC92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53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606D-BBFC-A78F-62D9-9113DD08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853D7-D878-19DA-7E54-2CD0CDCEF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94CFE-46CC-E913-CE90-AFD13EC98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BCBE7-85DE-77A6-E112-31C3E883E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E716-2622-7E7C-D78D-5009E79A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90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0C66-B554-D014-2D43-DE7F48C9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B196A-E983-9616-8A8D-610764A56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CB50B-3C4C-20E1-9FD0-106C03F67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7D582-053B-33BC-94C1-27DF1CB90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8D323-4558-CC06-1E72-BBFE1492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20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7110A-E188-DE97-431C-59FD24C2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14669-95F5-BC69-404E-0B670A176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CD362-E4EF-5D7B-88FA-B9807F822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58812-A65F-622E-F6F2-76B791778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F9AA4-C6EE-0FD4-6775-7E4902E7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68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EA8A-FD20-70E5-2CBA-82F7FB44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F1352-0337-FA8D-4FDA-FB5E97D02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5AB62-D248-70CF-04A9-720C0C1F4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F5B67-E057-E587-C116-B045CE0F6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07D2B-D3E0-1DD5-3D46-228CEFE4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87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8CD3-48DD-AFBD-C3DC-465C0FCD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E7541-26D5-4F85-26D3-D009FF8DC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56916-C771-AC11-6997-852CF9E0D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FB93D-FFEB-78A0-D7DF-11B53C415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7392F-14B0-E0F6-B839-3F5AD44C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39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F31F2-DD21-85CD-5814-B6CE2059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38A80-94FD-D2F7-6F50-92C193B86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BA03D-E59F-C7DC-158F-7D5BBEBF9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9FC45-322C-3D58-9F23-B23328B20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F2B6B-CFAE-DF87-DF5A-23C54469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2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4633931"/>
            <a:ext cx="9144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12725" y="2616994"/>
            <a:ext cx="1846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 descr="ISU LEFT white.eps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47887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Placeholder 4"/>
          <p:cNvSpPr txBox="1">
            <a:spLocks/>
          </p:cNvSpPr>
          <p:nvPr userDrawn="1"/>
        </p:nvSpPr>
        <p:spPr>
          <a:xfrm>
            <a:off x="4163705" y="4755356"/>
            <a:ext cx="4191000" cy="285750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None/>
              <a:defRPr sz="1600" b="1" i="0" baseline="0">
                <a:solidFill>
                  <a:schemeClr val="bg1"/>
                </a:solidFill>
                <a:latin typeface="Univers 65" charset="0"/>
                <a:ea typeface="Univers 65" charset="0"/>
                <a:cs typeface="Univers 65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9pPr>
          </a:lstStyle>
          <a:p>
            <a:pPr eaLnBrk="1" hangingPunct="1"/>
            <a:r>
              <a:rPr lang="en-US" sz="1200" kern="0" dirty="0">
                <a:latin typeface="Univers 75 Black" charset="0"/>
                <a:ea typeface="Univers 75 Black" charset="0"/>
                <a:cs typeface="Univers 75 Black" charset="0"/>
              </a:rPr>
              <a:t>Department of Statistics</a:t>
            </a:r>
          </a:p>
          <a:p>
            <a:pPr eaLnBrk="1" hangingPunct="1"/>
            <a:endParaRPr lang="en-US" sz="1200" kern="0" dirty="0">
              <a:latin typeface="Univers 75 Black" charset="0"/>
              <a:ea typeface="Univers 75 Black" charset="0"/>
              <a:cs typeface="Univers 75 Black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8534400" y="4755356"/>
            <a:ext cx="533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fld id="{60FAC648-EA3A-9C41-B47D-FEC33027B8CE}" type="slidenum">
              <a:rPr lang="en-US" smtClean="0">
                <a:solidFill>
                  <a:schemeClr val="bg1"/>
                </a:solidFill>
              </a:rPr>
              <a:pPr algn="l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8102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cxnSp>
        <p:nvCxnSpPr>
          <p:cNvPr id="49" name="Straight Connector 48"/>
          <p:cNvCxnSpPr/>
          <p:nvPr/>
        </p:nvCxnSpPr>
        <p:spPr bwMode="auto">
          <a:xfrm>
            <a:off x="0" y="351155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14400" y="1453575"/>
            <a:ext cx="7162800" cy="132343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Specifying Prior Distributions in Reliability Applications</a:t>
            </a:r>
          </a:p>
        </p:txBody>
      </p:sp>
      <p:pic>
        <p:nvPicPr>
          <p:cNvPr id="13" name="Picture 12" descr="ISU LEFT white.eps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77000" y="47887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934453" y="3822835"/>
            <a:ext cx="716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6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Qinglong Tian, Colin Lewis-Beck, Jarad Niemi, and William Meeker</a:t>
            </a:r>
          </a:p>
        </p:txBody>
      </p:sp>
    </p:spTree>
    <p:extLst>
      <p:ext uri="{BB962C8B-B14F-4D97-AF65-F5344CB8AC3E}">
        <p14:creationId xmlns:p14="http://schemas.microsoft.com/office/powerpoint/2010/main" val="69381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913509B-BB60-AFDE-440D-1EE28A5FA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90550"/>
            <a:ext cx="9055945" cy="306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0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8390F-5ECC-B9ED-E44C-AB202E9B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9EE60A0-C3A3-11B8-8091-8357473E674B}"/>
              </a:ext>
            </a:extLst>
          </p:cNvPr>
          <p:cNvSpPr txBox="1"/>
          <p:nvPr/>
        </p:nvSpPr>
        <p:spPr>
          <a:xfrm>
            <a:off x="604520" y="209550"/>
            <a:ext cx="510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Authors</a:t>
            </a:r>
            <a:endParaRPr lang="en-US" sz="3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E54B91-B079-2957-8523-246D343C888B}"/>
              </a:ext>
            </a:extLst>
          </p:cNvPr>
          <p:cNvCxnSpPr/>
          <p:nvPr/>
        </p:nvCxnSpPr>
        <p:spPr bwMode="auto">
          <a:xfrm>
            <a:off x="685800" y="7503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5FE38C7-18AA-A0BF-A07E-F12A70EBA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583" y="1223910"/>
            <a:ext cx="1231900" cy="16498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4DFBA5-45FF-7D75-76E0-7EFD10477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30260"/>
            <a:ext cx="1323281" cy="1650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3205AD-8607-17B2-DE35-12F546ED6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501" y="1223910"/>
            <a:ext cx="1231899" cy="1642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3B1664-CCDD-75F8-958E-8F3F467AD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666" y="1230260"/>
            <a:ext cx="1231900" cy="1651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78F44F-9362-3E56-CAE6-5D03ABB9031D}"/>
              </a:ext>
            </a:extLst>
          </p:cNvPr>
          <p:cNvSpPr txBox="1"/>
          <p:nvPr/>
        </p:nvSpPr>
        <p:spPr>
          <a:xfrm>
            <a:off x="604520" y="2959953"/>
            <a:ext cx="2073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Qinglong Tian</a:t>
            </a:r>
          </a:p>
          <a:p>
            <a:r>
              <a:rPr lang="en-US" sz="1600" dirty="0"/>
              <a:t>University of Waterloo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D04DA-714B-71D8-E6C3-FEE7FC71CBFD}"/>
              </a:ext>
            </a:extLst>
          </p:cNvPr>
          <p:cNvSpPr txBox="1"/>
          <p:nvPr/>
        </p:nvSpPr>
        <p:spPr>
          <a:xfrm>
            <a:off x="2830392" y="2959953"/>
            <a:ext cx="1114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Colin Beck</a:t>
            </a:r>
          </a:p>
          <a:p>
            <a:r>
              <a:rPr lang="en-US" sz="1600" dirty="0"/>
              <a:t>Google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A57304-A6DA-E1FB-4165-B5CA94AF64CF}"/>
              </a:ext>
            </a:extLst>
          </p:cNvPr>
          <p:cNvSpPr txBox="1"/>
          <p:nvPr/>
        </p:nvSpPr>
        <p:spPr>
          <a:xfrm>
            <a:off x="4908583" y="2959953"/>
            <a:ext cx="11849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Jarad Niemi</a:t>
            </a:r>
          </a:p>
          <a:p>
            <a:r>
              <a:rPr lang="en-US" sz="1600" dirty="0"/>
              <a:t>Iowa State</a:t>
            </a:r>
          </a:p>
          <a:p>
            <a:r>
              <a:rPr lang="en-US" sz="1600" dirty="0"/>
              <a:t>University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79BD3A-E7CD-2121-8C9D-152D207C8963}"/>
              </a:ext>
            </a:extLst>
          </p:cNvPr>
          <p:cNvSpPr txBox="1"/>
          <p:nvPr/>
        </p:nvSpPr>
        <p:spPr>
          <a:xfrm>
            <a:off x="6858000" y="2959953"/>
            <a:ext cx="11737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Bill Meeker</a:t>
            </a:r>
          </a:p>
          <a:p>
            <a:r>
              <a:rPr lang="en-US" sz="1600" dirty="0"/>
              <a:t>Iowa State</a:t>
            </a:r>
          </a:p>
          <a:p>
            <a:r>
              <a:rPr lang="en-US" sz="1600" dirty="0"/>
              <a:t>University</a:t>
            </a:r>
          </a:p>
        </p:txBody>
      </p:sp>
    </p:spTree>
    <p:extLst>
      <p:ext uri="{BB962C8B-B14F-4D97-AF65-F5344CB8AC3E}">
        <p14:creationId xmlns:p14="http://schemas.microsoft.com/office/powerpoint/2010/main" val="12351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B870-41F4-7363-CF45-40F8CE01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0E8E44C-FF79-2003-0BE8-00D485E07801}"/>
              </a:ext>
            </a:extLst>
          </p:cNvPr>
          <p:cNvSpPr txBox="1"/>
          <p:nvPr/>
        </p:nvSpPr>
        <p:spPr>
          <a:xfrm>
            <a:off x="604520" y="285750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Aircraft Engine - Bearing Cage Failure</a:t>
            </a:r>
            <a:endParaRPr lang="en-US" sz="3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1D1EC-4728-9152-0631-97C15216E63A}"/>
              </a:ext>
            </a:extLst>
          </p:cNvPr>
          <p:cNvCxnSpPr/>
          <p:nvPr/>
        </p:nvCxnSpPr>
        <p:spPr bwMode="auto">
          <a:xfrm>
            <a:off x="685800" y="8953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5168421-66A9-CAAC-233F-2B944612C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5465" y="165953"/>
            <a:ext cx="3506731" cy="4962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C5B452-CED0-E80E-2DA7-55D860790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144685" y="171523"/>
            <a:ext cx="3487267" cy="493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1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6238-6ECA-F31F-375C-C1877F077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A7E172F-0A07-B697-6E40-1E062F8C5F8F}"/>
              </a:ext>
            </a:extLst>
          </p:cNvPr>
          <p:cNvSpPr txBox="1"/>
          <p:nvPr/>
        </p:nvSpPr>
        <p:spPr>
          <a:xfrm>
            <a:off x="604520" y="209550"/>
            <a:ext cx="7244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Missile – Rocket Motor Failure</a:t>
            </a:r>
            <a:endParaRPr lang="en-US" sz="3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B82E05-E05F-4DD5-F2A0-633C9CC734B6}"/>
              </a:ext>
            </a:extLst>
          </p:cNvPr>
          <p:cNvCxnSpPr/>
          <p:nvPr/>
        </p:nvCxnSpPr>
        <p:spPr bwMode="auto">
          <a:xfrm>
            <a:off x="685800" y="7503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2061B01-5BED-FCFA-1657-2D43C346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99427" y="424827"/>
            <a:ext cx="3279198" cy="4303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98B8A3-26EB-C090-4241-7E4A90A14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141006" y="369594"/>
            <a:ext cx="3364837" cy="441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86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C56D-7D4A-2892-055D-980DB186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3C7DC-210A-5194-4428-998D2D10A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8150"/>
            <a:ext cx="7086600" cy="123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C0B317-BE6B-0F48-485D-AA94BE43B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050" y="2150566"/>
            <a:ext cx="2755900" cy="381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5C05D4-7946-CB40-24DD-9E34E58993AC}"/>
              </a:ext>
            </a:extLst>
          </p:cNvPr>
          <p:cNvSpPr txBox="1"/>
          <p:nvPr/>
        </p:nvSpPr>
        <p:spPr>
          <a:xfrm>
            <a:off x="604520" y="2114550"/>
            <a:ext cx="290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Failure time quantile:</a:t>
            </a:r>
            <a:endParaRPr lang="en-US" sz="2200" dirty="0">
              <a:solidFill>
                <a:srgbClr val="C8102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83A615-2406-BD64-73F2-475414AE4053}"/>
              </a:ext>
            </a:extLst>
          </p:cNvPr>
          <p:cNvSpPr txBox="1"/>
          <p:nvPr/>
        </p:nvSpPr>
        <p:spPr>
          <a:xfrm>
            <a:off x="604520" y="2873840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Right-Censored Likelihood</a:t>
            </a:r>
            <a:endParaRPr lang="en-US" sz="2200" dirty="0">
              <a:solidFill>
                <a:srgbClr val="C8102E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12F6BD-00F0-34E3-885B-7B517E05E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456" y="3357354"/>
            <a:ext cx="6452144" cy="8300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3DA612-4A1C-C0B1-FFFB-8B4ADF5C3C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244" y="3346481"/>
            <a:ext cx="1549400" cy="8521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0D4629-19D7-E32D-1D6A-35E5032CAFCD}"/>
              </a:ext>
            </a:extLst>
          </p:cNvPr>
          <p:cNvSpPr txBox="1"/>
          <p:nvPr/>
        </p:nvSpPr>
        <p:spPr>
          <a:xfrm>
            <a:off x="3581400" y="4198263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Exact</a:t>
            </a:r>
            <a:endParaRPr lang="en-US" sz="2200" dirty="0">
              <a:solidFill>
                <a:srgbClr val="C8102E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B87D5F-3998-091A-E33C-62E160CF2ACA}"/>
              </a:ext>
            </a:extLst>
          </p:cNvPr>
          <p:cNvSpPr txBox="1"/>
          <p:nvPr/>
        </p:nvSpPr>
        <p:spPr>
          <a:xfrm>
            <a:off x="6172200" y="4198263"/>
            <a:ext cx="2362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Right-censored</a:t>
            </a:r>
            <a:endParaRPr lang="en-US" sz="2200" dirty="0">
              <a:solidFill>
                <a:srgbClr val="C8102E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600E6EB-ACC9-3535-88FF-841B071EDB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" y="1352550"/>
            <a:ext cx="3073400" cy="31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7A2825-0A02-7258-2FF9-FF9BAE2777A7}"/>
              </a:ext>
            </a:extLst>
          </p:cNvPr>
          <p:cNvSpPr txBox="1"/>
          <p:nvPr/>
        </p:nvSpPr>
        <p:spPr>
          <a:xfrm>
            <a:off x="604520" y="209550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Weibull Distribution</a:t>
            </a:r>
            <a:endParaRPr lang="en-US" sz="2200" dirty="0">
              <a:solidFill>
                <a:srgbClr val="C810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7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45182-E001-AAD1-B3BB-311157BA6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8001170-7D20-D424-EBF2-CCCF079AB9DB}"/>
              </a:ext>
            </a:extLst>
          </p:cNvPr>
          <p:cNvSpPr txBox="1"/>
          <p:nvPr/>
        </p:nvSpPr>
        <p:spPr>
          <a:xfrm>
            <a:off x="609600" y="209550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</a:rPr>
              <a:t>Weibull Likelihood – Bearing Cage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2F3C7-4216-7C6B-C3EF-E3E1E72B6B82}"/>
              </a:ext>
            </a:extLst>
          </p:cNvPr>
          <p:cNvCxnSpPr/>
          <p:nvPr/>
        </p:nvCxnSpPr>
        <p:spPr bwMode="auto">
          <a:xfrm>
            <a:off x="690880" y="7503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E563AB7-AE88-D098-0149-2AD3FAAA6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02154" y="-149704"/>
            <a:ext cx="3566404" cy="5046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CB8AC7-8AC6-8988-F972-66FE7ADD6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69353" y="-142147"/>
            <a:ext cx="3566403" cy="504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1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26F7-CA64-B781-95FD-D81AF2BA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11C335B-7240-562B-051D-7B71C13D1C49}"/>
              </a:ext>
            </a:extLst>
          </p:cNvPr>
          <p:cNvSpPr txBox="1"/>
          <p:nvPr/>
        </p:nvSpPr>
        <p:spPr>
          <a:xfrm>
            <a:off x="609600" y="209550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</a:rPr>
              <a:t>Weibull Likelihood – Rocket Motor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022E04-BCA7-012C-165C-3F2C562A7BB3}"/>
              </a:ext>
            </a:extLst>
          </p:cNvPr>
          <p:cNvCxnSpPr/>
          <p:nvPr/>
        </p:nvCxnSpPr>
        <p:spPr bwMode="auto">
          <a:xfrm>
            <a:off x="690880" y="7503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771C3F-63E8-72AD-87F9-C748FF0E0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36310" y="-126366"/>
            <a:ext cx="3634659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DB7D02-60EB-315E-B656-2BA4891B7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45421" y="-107633"/>
            <a:ext cx="36346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9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CC70-901C-6E6F-B103-08937475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A9F7A62-E977-1E16-5C30-3467623169C7}"/>
              </a:ext>
            </a:extLst>
          </p:cNvPr>
          <p:cNvSpPr txBox="1"/>
          <p:nvPr/>
        </p:nvSpPr>
        <p:spPr>
          <a:xfrm>
            <a:off x="609600" y="133350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Non-informative Priors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D4557B-0EAD-B632-0AC0-97415D1C39CA}"/>
              </a:ext>
            </a:extLst>
          </p:cNvPr>
          <p:cNvCxnSpPr/>
          <p:nvPr/>
        </p:nvCxnSpPr>
        <p:spPr bwMode="auto">
          <a:xfrm>
            <a:off x="690880" y="6741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C51E2FF-2CFB-D526-0C49-3944EFDD8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784147"/>
            <a:ext cx="4068455" cy="3616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3A7BCF-D6B7-01B5-8B3A-C2B80391D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320" y="754559"/>
            <a:ext cx="4098168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8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0FAC-B446-76F4-AA92-A1FD24EF8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2C67A05-C950-0A83-D71C-E7DCADF45C15}"/>
              </a:ext>
            </a:extLst>
          </p:cNvPr>
          <p:cNvSpPr txBox="1"/>
          <p:nvPr/>
        </p:nvSpPr>
        <p:spPr>
          <a:xfrm>
            <a:off x="609600" y="133350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Independent-Jefferys Priors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3F183C-8DA3-6AD9-A95D-DA6176034F8B}"/>
              </a:ext>
            </a:extLst>
          </p:cNvPr>
          <p:cNvCxnSpPr/>
          <p:nvPr/>
        </p:nvCxnSpPr>
        <p:spPr bwMode="auto">
          <a:xfrm>
            <a:off x="690880" y="6741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D2BFC62-6029-ABB6-241B-89096A478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5473"/>
            <a:ext cx="8456417" cy="329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4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B0EF-A610-CE87-051D-92B7A73C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48073FF-53DB-0C16-F98F-3D60ED583E15}"/>
              </a:ext>
            </a:extLst>
          </p:cNvPr>
          <p:cNvSpPr txBox="1"/>
          <p:nvPr/>
        </p:nvSpPr>
        <p:spPr>
          <a:xfrm>
            <a:off x="609600" y="133350"/>
            <a:ext cx="723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Bearing Cage – Posteriors (default prior)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809C76-FC30-CBE9-77B1-9AA5F3CB3A41}"/>
              </a:ext>
            </a:extLst>
          </p:cNvPr>
          <p:cNvCxnSpPr/>
          <p:nvPr/>
        </p:nvCxnSpPr>
        <p:spPr bwMode="auto">
          <a:xfrm>
            <a:off x="690880" y="6741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DD9395F-BE21-A859-E57F-1B7E8F8A4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71" y="1085850"/>
            <a:ext cx="8564458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15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3C18-7799-3454-A5A4-015037DD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A77B4CE-26F3-4A0D-8ACF-9C788B9B1233}"/>
              </a:ext>
            </a:extLst>
          </p:cNvPr>
          <p:cNvSpPr txBox="1"/>
          <p:nvPr/>
        </p:nvSpPr>
        <p:spPr>
          <a:xfrm>
            <a:off x="609600" y="133350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Rocket Motor – Posteriors (weakly informative prior)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10601-28AF-6628-1C25-D7219C012E61}"/>
              </a:ext>
            </a:extLst>
          </p:cNvPr>
          <p:cNvCxnSpPr/>
          <p:nvPr/>
        </p:nvCxnSpPr>
        <p:spPr bwMode="auto">
          <a:xfrm>
            <a:off x="690880" y="6741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F5B4A98-52CF-8830-4D2F-0ECA83351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35" y="971549"/>
            <a:ext cx="8397900" cy="297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30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A109A-8C9F-43B5-F47A-96597A3F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76106BC-5F48-AC2B-9EC3-06C15F67C481}"/>
              </a:ext>
            </a:extLst>
          </p:cNvPr>
          <p:cNvSpPr txBox="1"/>
          <p:nvPr/>
        </p:nvSpPr>
        <p:spPr>
          <a:xfrm>
            <a:off x="609600" y="133350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Informative Prior Distributions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E268FF-A7D8-1D1E-7952-E57D7F951EA4}"/>
              </a:ext>
            </a:extLst>
          </p:cNvPr>
          <p:cNvCxnSpPr/>
          <p:nvPr/>
        </p:nvCxnSpPr>
        <p:spPr bwMode="auto">
          <a:xfrm>
            <a:off x="690880" y="6741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147D20B-FC7C-3B7F-2F50-976A74E7B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815896"/>
            <a:ext cx="7772400" cy="35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64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4F554-CFBD-C072-10CB-B6E860DA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BACEA29-2554-6B32-7089-7CEFFD162DA3}"/>
              </a:ext>
            </a:extLst>
          </p:cNvPr>
          <p:cNvSpPr txBox="1"/>
          <p:nvPr/>
        </p:nvSpPr>
        <p:spPr>
          <a:xfrm>
            <a:off x="609600" y="133350"/>
            <a:ext cx="7010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Bearing Cage – Posteriors (Informative Prior)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971831-821F-9E7A-B955-9589A511E892}"/>
              </a:ext>
            </a:extLst>
          </p:cNvPr>
          <p:cNvCxnSpPr/>
          <p:nvPr/>
        </p:nvCxnSpPr>
        <p:spPr bwMode="auto">
          <a:xfrm>
            <a:off x="690880" y="6741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4C348AC-78CF-B7A4-A76E-0EEA93CD3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36550"/>
            <a:ext cx="8973057" cy="32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22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DDA6-C746-520C-D65E-DD65C8FE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2A7BC3-69C8-F35C-BC56-91F914AD0A82}"/>
              </a:ext>
            </a:extLst>
          </p:cNvPr>
          <p:cNvSpPr txBox="1"/>
          <p:nvPr/>
        </p:nvSpPr>
        <p:spPr>
          <a:xfrm>
            <a:off x="609600" y="133350"/>
            <a:ext cx="655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Rocket Motor – Posteriors (Informative Prior)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2A4C63-B323-71E1-D0C3-3ADEA3620DAB}"/>
              </a:ext>
            </a:extLst>
          </p:cNvPr>
          <p:cNvCxnSpPr/>
          <p:nvPr/>
        </p:nvCxnSpPr>
        <p:spPr bwMode="auto">
          <a:xfrm>
            <a:off x="690880" y="674191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20B2EBE-EAF2-E4C8-CF47-C22DA8948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55825"/>
            <a:ext cx="8895611" cy="329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298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3042-CAF6-315C-201F-77C32669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233F0E3-B9DD-DBB6-0932-F5E0D6875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7150"/>
            <a:ext cx="9055945" cy="306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77152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Univers 67 CondensedBold"/>
        <a:ea typeface=""/>
        <a:cs typeface=""/>
      </a:majorFont>
      <a:minorFont>
        <a:latin typeface="Univers 67 Condensed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71A53456-0B6F-884C-8087-BC21938C511A}" vid="{14E36481-14E0-A54B-8BEA-4D46F22C81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</Template>
  <TotalTime>304</TotalTime>
  <Words>211</Words>
  <Application>Microsoft Macintosh PowerPoint</Application>
  <PresentationFormat>On-screen Show (16:9)</PresentationFormat>
  <Paragraphs>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ITC Berkeley Oldstyle Book</vt:lpstr>
      <vt:lpstr>Times</vt:lpstr>
      <vt:lpstr>Univers 57 Condensed</vt:lpstr>
      <vt:lpstr>Univers 67 CondensedBold</vt:lpstr>
      <vt:lpstr>Univers 75 Black</vt:lpstr>
      <vt:lpstr>PowerPoint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Niemi, Jarad [STAT]</dc:creator>
  <cp:lastModifiedBy>Niemi, Jarad [STAT]</cp:lastModifiedBy>
  <cp:revision>5</cp:revision>
  <cp:lastPrinted>2019-02-08T13:46:09Z</cp:lastPrinted>
  <dcterms:created xsi:type="dcterms:W3CDTF">2026-03-22T17:49:46Z</dcterms:created>
  <dcterms:modified xsi:type="dcterms:W3CDTF">2026-03-23T15:28:46Z</dcterms:modified>
</cp:coreProperties>
</file>