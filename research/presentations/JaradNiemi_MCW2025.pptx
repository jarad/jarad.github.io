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31"/>
  </p:notesMasterIdLst>
  <p:handoutMasterIdLst>
    <p:handoutMasterId r:id="rId32"/>
  </p:handoutMasterIdLst>
  <p:sldIdLst>
    <p:sldId id="262" r:id="rId2"/>
    <p:sldId id="268" r:id="rId3"/>
    <p:sldId id="269" r:id="rId4"/>
    <p:sldId id="270" r:id="rId5"/>
    <p:sldId id="260" r:id="rId6"/>
    <p:sldId id="271" r:id="rId7"/>
    <p:sldId id="272" r:id="rId8"/>
    <p:sldId id="273" r:id="rId9"/>
    <p:sldId id="275" r:id="rId10"/>
    <p:sldId id="276" r:id="rId11"/>
    <p:sldId id="277" r:id="rId12"/>
    <p:sldId id="263" r:id="rId13"/>
    <p:sldId id="278" r:id="rId14"/>
    <p:sldId id="279" r:id="rId15"/>
    <p:sldId id="280" r:id="rId16"/>
    <p:sldId id="282" r:id="rId17"/>
    <p:sldId id="283" r:id="rId18"/>
    <p:sldId id="290" r:id="rId19"/>
    <p:sldId id="291" r:id="rId20"/>
    <p:sldId id="281" r:id="rId21"/>
    <p:sldId id="284" r:id="rId22"/>
    <p:sldId id="286" r:id="rId23"/>
    <p:sldId id="287" r:id="rId24"/>
    <p:sldId id="288" r:id="rId25"/>
    <p:sldId id="289" r:id="rId26"/>
    <p:sldId id="267" r:id="rId27"/>
    <p:sldId id="265" r:id="rId28"/>
    <p:sldId id="264" r:id="rId29"/>
    <p:sldId id="266"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457200" rtl="0" eaLnBrk="1" latinLnBrk="0" hangingPunct="1">
      <a:defRPr sz="2400" kern="1200">
        <a:solidFill>
          <a:schemeClr val="tx1"/>
        </a:solidFill>
        <a:latin typeface="Times" charset="0"/>
        <a:ea typeface="+mn-ea"/>
        <a:cs typeface="+mn-cs"/>
      </a:defRPr>
    </a:lvl6pPr>
    <a:lvl7pPr marL="2743200" algn="l" defTabSz="457200" rtl="0" eaLnBrk="1" latinLnBrk="0" hangingPunct="1">
      <a:defRPr sz="2400" kern="1200">
        <a:solidFill>
          <a:schemeClr val="tx1"/>
        </a:solidFill>
        <a:latin typeface="Times" charset="0"/>
        <a:ea typeface="+mn-ea"/>
        <a:cs typeface="+mn-cs"/>
      </a:defRPr>
    </a:lvl7pPr>
    <a:lvl8pPr marL="3200400" algn="l" defTabSz="457200" rtl="0" eaLnBrk="1" latinLnBrk="0" hangingPunct="1">
      <a:defRPr sz="2400" kern="1200">
        <a:solidFill>
          <a:schemeClr val="tx1"/>
        </a:solidFill>
        <a:latin typeface="Times" charset="0"/>
        <a:ea typeface="+mn-ea"/>
        <a:cs typeface="+mn-cs"/>
      </a:defRPr>
    </a:lvl8pPr>
    <a:lvl9pPr marL="3657600" algn="l" defTabSz="4572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BE48"/>
    <a:srgbClr val="C8102E"/>
    <a:srgbClr val="ACA39A"/>
    <a:srgbClr val="7A6E67"/>
    <a:srgbClr val="CE1126"/>
    <a:srgbClr val="6E6259"/>
    <a:srgbClr val="010000"/>
    <a:srgbClr val="F2BF49"/>
    <a:srgbClr val="ADA0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092" autoAdjust="0"/>
    <p:restoredTop sz="86438" autoAdjust="0"/>
  </p:normalViewPr>
  <p:slideViewPr>
    <p:cSldViewPr>
      <p:cViewPr varScale="1">
        <p:scale>
          <a:sx n="134" d="100"/>
          <a:sy n="134" d="100"/>
        </p:scale>
        <p:origin x="192" y="360"/>
      </p:cViewPr>
      <p:guideLst>
        <p:guide orient="horz" pos="2160"/>
        <p:guide pos="2880"/>
        <p:guide orient="horz" pos="162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755A0C9-E830-1241-BEA3-6925DA004ECF}" type="datetimeFigureOut">
              <a:rPr lang="en-US" smtClean="0"/>
              <a:pPr/>
              <a:t>5/2/25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984522-76EF-EF4D-8870-07F3436BA4E0}" type="slidenum">
              <a:rPr lang="en-US" smtClean="0"/>
              <a:pPr/>
              <a:t>‹#›</a:t>
            </a:fld>
            <a:endParaRPr lang="en-US"/>
          </a:p>
        </p:txBody>
      </p:sp>
    </p:spTree>
    <p:extLst>
      <p:ext uri="{BB962C8B-B14F-4D97-AF65-F5344CB8AC3E}">
        <p14:creationId xmlns:p14="http://schemas.microsoft.com/office/powerpoint/2010/main" val="120090241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845082-6AF3-024B-A14D-C5AD8123919E}" type="datetimeFigureOut">
              <a:rPr lang="en-US" smtClean="0"/>
              <a:pPr/>
              <a:t>5/2/25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A6D18E-8B09-B24B-9169-4FC527B8D84F}" type="slidenum">
              <a:rPr lang="en-US" smtClean="0"/>
              <a:pPr/>
              <a:t>‹#›</a:t>
            </a:fld>
            <a:endParaRPr lang="en-US"/>
          </a:p>
        </p:txBody>
      </p:sp>
    </p:spTree>
    <p:extLst>
      <p:ext uri="{BB962C8B-B14F-4D97-AF65-F5344CB8AC3E}">
        <p14:creationId xmlns:p14="http://schemas.microsoft.com/office/powerpoint/2010/main" val="245779256"/>
      </p:ext>
    </p:extLst>
  </p:cSld>
  <p:clrMap bg1="lt1" tx1="dk1" bg2="lt2" tx2="dk2" accent1="accent1" accent2="accent2" accent3="accent3" accent4="accent4" accent5="accent5" accent6="accent6" hlink="hlink" folHlink="folHlink"/>
  <p:hf hd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A6D18E-8B09-B24B-9169-4FC527B8D84F}" type="slidenum">
              <a:rPr lang="en-US" smtClean="0"/>
              <a:pPr/>
              <a:t>1</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8648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fades in, red pops up. Only this page</a:t>
            </a:r>
          </a:p>
        </p:txBody>
      </p:sp>
      <p:sp>
        <p:nvSpPr>
          <p:cNvPr id="4" name="Slide Number Placeholder 3"/>
          <p:cNvSpPr>
            <a:spLocks noGrp="1"/>
          </p:cNvSpPr>
          <p:nvPr>
            <p:ph type="sldNum" sz="quarter" idx="10"/>
          </p:nvPr>
        </p:nvSpPr>
        <p:spPr/>
        <p:txBody>
          <a:bodyPr/>
          <a:lstStyle/>
          <a:p>
            <a:fld id="{24A6D18E-8B09-B24B-9169-4FC527B8D84F}" type="slidenum">
              <a:rPr lang="en-US" smtClean="0"/>
              <a:pPr/>
              <a:t>5</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019020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3D746-2C85-CC25-AE89-3B84D9314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D4E33B-D9CE-6821-7ED7-10D55DF0F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05EA17-A703-74B8-74CF-7B04F30FA69F}"/>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44EC2CF7-483B-DC11-740F-213FC9B8611A}"/>
              </a:ext>
            </a:extLst>
          </p:cNvPr>
          <p:cNvSpPr>
            <a:spLocks noGrp="1"/>
          </p:cNvSpPr>
          <p:nvPr>
            <p:ph type="sldNum" sz="quarter" idx="10"/>
          </p:nvPr>
        </p:nvSpPr>
        <p:spPr/>
        <p:txBody>
          <a:bodyPr/>
          <a:lstStyle/>
          <a:p>
            <a:fld id="{24A6D18E-8B09-B24B-9169-4FC527B8D84F}" type="slidenum">
              <a:rPr lang="en-US" smtClean="0"/>
              <a:pPr/>
              <a:t>6</a:t>
            </a:fld>
            <a:endParaRPr lang="en-US"/>
          </a:p>
        </p:txBody>
      </p:sp>
      <p:sp>
        <p:nvSpPr>
          <p:cNvPr id="5" name="Footer Placeholder 4">
            <a:extLst>
              <a:ext uri="{FF2B5EF4-FFF2-40B4-BE49-F238E27FC236}">
                <a16:creationId xmlns:a16="http://schemas.microsoft.com/office/drawing/2014/main" id="{E64DF923-16EC-64FB-B59D-A67C9C34358E}"/>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429582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F480B-66F0-4D52-B145-8627BB1E9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98F62-51AB-211C-585E-E2BF9EB656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EBF7E6-BC15-02C4-6FA2-3ED38E8A97C9}"/>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123BB9F8-1BC0-E712-7BB6-618B4A25FEE5}"/>
              </a:ext>
            </a:extLst>
          </p:cNvPr>
          <p:cNvSpPr>
            <a:spLocks noGrp="1"/>
          </p:cNvSpPr>
          <p:nvPr>
            <p:ph type="sldNum" sz="quarter" idx="10"/>
          </p:nvPr>
        </p:nvSpPr>
        <p:spPr/>
        <p:txBody>
          <a:bodyPr/>
          <a:lstStyle/>
          <a:p>
            <a:fld id="{24A6D18E-8B09-B24B-9169-4FC527B8D84F}" type="slidenum">
              <a:rPr lang="en-US" smtClean="0"/>
              <a:pPr/>
              <a:t>7</a:t>
            </a:fld>
            <a:endParaRPr lang="en-US"/>
          </a:p>
        </p:txBody>
      </p:sp>
      <p:sp>
        <p:nvSpPr>
          <p:cNvPr id="5" name="Footer Placeholder 4">
            <a:extLst>
              <a:ext uri="{FF2B5EF4-FFF2-40B4-BE49-F238E27FC236}">
                <a16:creationId xmlns:a16="http://schemas.microsoft.com/office/drawing/2014/main" id="{C84FA632-01F2-6D05-C2B4-946460364C4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85102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95445-7617-B7A8-1A7F-0020951B7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E613F-411B-1D06-90C2-3F61CCFDA5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54B46-2118-C4EB-9A6D-FF079D38995E}"/>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D2F1974D-AEF0-1D88-16FA-5E5C9777BEAE}"/>
              </a:ext>
            </a:extLst>
          </p:cNvPr>
          <p:cNvSpPr>
            <a:spLocks noGrp="1"/>
          </p:cNvSpPr>
          <p:nvPr>
            <p:ph type="sldNum" sz="quarter" idx="10"/>
          </p:nvPr>
        </p:nvSpPr>
        <p:spPr/>
        <p:txBody>
          <a:bodyPr/>
          <a:lstStyle/>
          <a:p>
            <a:fld id="{24A6D18E-8B09-B24B-9169-4FC527B8D84F}" type="slidenum">
              <a:rPr lang="en-US" smtClean="0"/>
              <a:pPr/>
              <a:t>8</a:t>
            </a:fld>
            <a:endParaRPr lang="en-US"/>
          </a:p>
        </p:txBody>
      </p:sp>
      <p:sp>
        <p:nvSpPr>
          <p:cNvPr id="5" name="Footer Placeholder 4">
            <a:extLst>
              <a:ext uri="{FF2B5EF4-FFF2-40B4-BE49-F238E27FC236}">
                <a16:creationId xmlns:a16="http://schemas.microsoft.com/office/drawing/2014/main" id="{9E020636-03BC-32E5-DB77-C0BF19480C2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798837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FF492-2806-AEED-28B0-25A6DF46B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4544D-9412-8C22-49F5-C52872E5D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A380F-8F05-7412-7E45-95D1CD07ABB1}"/>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97471DEC-359A-D639-47C3-1E6AF458F875}"/>
              </a:ext>
            </a:extLst>
          </p:cNvPr>
          <p:cNvSpPr>
            <a:spLocks noGrp="1"/>
          </p:cNvSpPr>
          <p:nvPr>
            <p:ph type="sldNum" sz="quarter" idx="10"/>
          </p:nvPr>
        </p:nvSpPr>
        <p:spPr/>
        <p:txBody>
          <a:bodyPr/>
          <a:lstStyle/>
          <a:p>
            <a:fld id="{24A6D18E-8B09-B24B-9169-4FC527B8D84F}" type="slidenum">
              <a:rPr lang="en-US" smtClean="0"/>
              <a:pPr/>
              <a:t>9</a:t>
            </a:fld>
            <a:endParaRPr lang="en-US"/>
          </a:p>
        </p:txBody>
      </p:sp>
      <p:sp>
        <p:nvSpPr>
          <p:cNvPr id="5" name="Footer Placeholder 4">
            <a:extLst>
              <a:ext uri="{FF2B5EF4-FFF2-40B4-BE49-F238E27FC236}">
                <a16:creationId xmlns:a16="http://schemas.microsoft.com/office/drawing/2014/main" id="{81631971-6EF0-6D52-2220-C7B103091955}"/>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717524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09588-0919-36F1-B23E-BFBA4CCB9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770FA-D65B-BAB9-3731-CBC86DD042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93621-210B-0524-1CB1-23F09272B8BB}"/>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126D0747-8C09-4776-887D-0A05C146A5B2}"/>
              </a:ext>
            </a:extLst>
          </p:cNvPr>
          <p:cNvSpPr>
            <a:spLocks noGrp="1"/>
          </p:cNvSpPr>
          <p:nvPr>
            <p:ph type="sldNum" sz="quarter" idx="10"/>
          </p:nvPr>
        </p:nvSpPr>
        <p:spPr/>
        <p:txBody>
          <a:bodyPr/>
          <a:lstStyle/>
          <a:p>
            <a:fld id="{24A6D18E-8B09-B24B-9169-4FC527B8D84F}" type="slidenum">
              <a:rPr lang="en-US" smtClean="0"/>
              <a:pPr/>
              <a:t>10</a:t>
            </a:fld>
            <a:endParaRPr lang="en-US"/>
          </a:p>
        </p:txBody>
      </p:sp>
      <p:sp>
        <p:nvSpPr>
          <p:cNvPr id="5" name="Footer Placeholder 4">
            <a:extLst>
              <a:ext uri="{FF2B5EF4-FFF2-40B4-BE49-F238E27FC236}">
                <a16:creationId xmlns:a16="http://schemas.microsoft.com/office/drawing/2014/main" id="{374EA919-54D1-24AD-615F-7892B88C4B3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67900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7A532-732B-4C02-6FF8-71DF4F139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BEFDF-B31E-20DA-F586-301001BAF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86C07A-E8EF-CAD3-24A6-14D123AF70BF}"/>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F4398DBC-2245-0EA6-E8A8-E8B0382F05BC}"/>
              </a:ext>
            </a:extLst>
          </p:cNvPr>
          <p:cNvSpPr>
            <a:spLocks noGrp="1"/>
          </p:cNvSpPr>
          <p:nvPr>
            <p:ph type="sldNum" sz="quarter" idx="10"/>
          </p:nvPr>
        </p:nvSpPr>
        <p:spPr/>
        <p:txBody>
          <a:bodyPr/>
          <a:lstStyle/>
          <a:p>
            <a:fld id="{24A6D18E-8B09-B24B-9169-4FC527B8D84F}" type="slidenum">
              <a:rPr lang="en-US" smtClean="0"/>
              <a:pPr/>
              <a:t>11</a:t>
            </a:fld>
            <a:endParaRPr lang="en-US"/>
          </a:p>
        </p:txBody>
      </p:sp>
      <p:sp>
        <p:nvSpPr>
          <p:cNvPr id="5" name="Footer Placeholder 4">
            <a:extLst>
              <a:ext uri="{FF2B5EF4-FFF2-40B4-BE49-F238E27FC236}">
                <a16:creationId xmlns:a16="http://schemas.microsoft.com/office/drawing/2014/main" id="{4631B385-6AE1-A5FB-21F4-D65ACE8011D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713488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73026-985C-48F7-F394-FF5D53C60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1C7E46-D8A5-7E78-DB62-471E3BB341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FF867-2A80-0C25-737A-985CDF651689}"/>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E4736EE7-6011-E5B7-7767-FA11C17093B4}"/>
              </a:ext>
            </a:extLst>
          </p:cNvPr>
          <p:cNvSpPr>
            <a:spLocks noGrp="1"/>
          </p:cNvSpPr>
          <p:nvPr>
            <p:ph type="sldNum" sz="quarter" idx="10"/>
          </p:nvPr>
        </p:nvSpPr>
        <p:spPr/>
        <p:txBody>
          <a:bodyPr/>
          <a:lstStyle/>
          <a:p>
            <a:fld id="{24A6D18E-8B09-B24B-9169-4FC527B8D84F}" type="slidenum">
              <a:rPr lang="en-US" smtClean="0"/>
              <a:pPr/>
              <a:t>13</a:t>
            </a:fld>
            <a:endParaRPr lang="en-US"/>
          </a:p>
        </p:txBody>
      </p:sp>
      <p:sp>
        <p:nvSpPr>
          <p:cNvPr id="5" name="Footer Placeholder 4">
            <a:extLst>
              <a:ext uri="{FF2B5EF4-FFF2-40B4-BE49-F238E27FC236}">
                <a16:creationId xmlns:a16="http://schemas.microsoft.com/office/drawing/2014/main" id="{FAE7CE80-5BAC-D0F6-BC26-D383C7EC4095}"/>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57323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7BCC4-E661-A928-0B4D-8301CCE3D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B2DBD-0005-ADE1-5119-5C0EC2534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119328-71BD-F2B0-A387-970B47BA4FCD}"/>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31A83160-9C54-A6D9-7D73-9B3ABBBE0A8C}"/>
              </a:ext>
            </a:extLst>
          </p:cNvPr>
          <p:cNvSpPr>
            <a:spLocks noGrp="1"/>
          </p:cNvSpPr>
          <p:nvPr>
            <p:ph type="sldNum" sz="quarter" idx="10"/>
          </p:nvPr>
        </p:nvSpPr>
        <p:spPr/>
        <p:txBody>
          <a:bodyPr/>
          <a:lstStyle/>
          <a:p>
            <a:fld id="{24A6D18E-8B09-B24B-9169-4FC527B8D84F}" type="slidenum">
              <a:rPr lang="en-US" smtClean="0"/>
              <a:pPr/>
              <a:t>14</a:t>
            </a:fld>
            <a:endParaRPr lang="en-US"/>
          </a:p>
        </p:txBody>
      </p:sp>
      <p:sp>
        <p:nvSpPr>
          <p:cNvPr id="5" name="Footer Placeholder 4">
            <a:extLst>
              <a:ext uri="{FF2B5EF4-FFF2-40B4-BE49-F238E27FC236}">
                <a16:creationId xmlns:a16="http://schemas.microsoft.com/office/drawing/2014/main" id="{CA7922EC-6C33-DAB3-BCCA-A2F725E24C1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194929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FF041-D47F-CC2C-E59E-8FCBFF96D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3DEE46-EDE6-F01C-81A0-95F67AD81F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75A376-AE82-C131-69B1-C1DBD18B4C3A}"/>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9FE4AB7C-79DF-4292-9B0D-1D140475B54A}"/>
              </a:ext>
            </a:extLst>
          </p:cNvPr>
          <p:cNvSpPr>
            <a:spLocks noGrp="1"/>
          </p:cNvSpPr>
          <p:nvPr>
            <p:ph type="sldNum" sz="quarter" idx="10"/>
          </p:nvPr>
        </p:nvSpPr>
        <p:spPr/>
        <p:txBody>
          <a:bodyPr/>
          <a:lstStyle/>
          <a:p>
            <a:fld id="{24A6D18E-8B09-B24B-9169-4FC527B8D84F}" type="slidenum">
              <a:rPr lang="en-US" smtClean="0"/>
              <a:pPr/>
              <a:t>15</a:t>
            </a:fld>
            <a:endParaRPr lang="en-US"/>
          </a:p>
        </p:txBody>
      </p:sp>
      <p:sp>
        <p:nvSpPr>
          <p:cNvPr id="5" name="Footer Placeholder 4">
            <a:extLst>
              <a:ext uri="{FF2B5EF4-FFF2-40B4-BE49-F238E27FC236}">
                <a16:creationId xmlns:a16="http://schemas.microsoft.com/office/drawing/2014/main" id="{E254634E-0958-ADBD-B54A-0ABADFD3E9C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581791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5AFBB-D7C0-59D4-670B-28E475957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F375F-FE9E-BE87-BBA6-6C34D26999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31A842-041B-63BC-1BD6-14D2AC5D38A7}"/>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7C151625-E57B-0FE5-B740-8EDB805BE336}"/>
              </a:ext>
            </a:extLst>
          </p:cNvPr>
          <p:cNvSpPr>
            <a:spLocks noGrp="1"/>
          </p:cNvSpPr>
          <p:nvPr>
            <p:ph type="sldNum" sz="quarter" idx="10"/>
          </p:nvPr>
        </p:nvSpPr>
        <p:spPr/>
        <p:txBody>
          <a:bodyPr/>
          <a:lstStyle/>
          <a:p>
            <a:fld id="{24A6D18E-8B09-B24B-9169-4FC527B8D84F}" type="slidenum">
              <a:rPr lang="en-US" smtClean="0"/>
              <a:pPr/>
              <a:t>16</a:t>
            </a:fld>
            <a:endParaRPr lang="en-US"/>
          </a:p>
        </p:txBody>
      </p:sp>
      <p:sp>
        <p:nvSpPr>
          <p:cNvPr id="5" name="Footer Placeholder 4">
            <a:extLst>
              <a:ext uri="{FF2B5EF4-FFF2-40B4-BE49-F238E27FC236}">
                <a16:creationId xmlns:a16="http://schemas.microsoft.com/office/drawing/2014/main" id="{A5D06C84-34D4-5820-349F-188823A595E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68952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65E92-A1B8-DAF0-BFC0-A5CC857E0A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827E62-4F03-B959-C9AB-A1F458027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505629-8FB1-43EB-EF79-B76440E9139A}"/>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A5799E95-8238-E4DA-6B5C-05700A3C1BF6}"/>
              </a:ext>
            </a:extLst>
          </p:cNvPr>
          <p:cNvSpPr>
            <a:spLocks noGrp="1"/>
          </p:cNvSpPr>
          <p:nvPr>
            <p:ph type="sldNum" sz="quarter" idx="10"/>
          </p:nvPr>
        </p:nvSpPr>
        <p:spPr/>
        <p:txBody>
          <a:bodyPr/>
          <a:lstStyle/>
          <a:p>
            <a:fld id="{24A6D18E-8B09-B24B-9169-4FC527B8D84F}" type="slidenum">
              <a:rPr lang="en-US" smtClean="0"/>
              <a:pPr/>
              <a:t>17</a:t>
            </a:fld>
            <a:endParaRPr lang="en-US"/>
          </a:p>
        </p:txBody>
      </p:sp>
      <p:sp>
        <p:nvSpPr>
          <p:cNvPr id="5" name="Footer Placeholder 4">
            <a:extLst>
              <a:ext uri="{FF2B5EF4-FFF2-40B4-BE49-F238E27FC236}">
                <a16:creationId xmlns:a16="http://schemas.microsoft.com/office/drawing/2014/main" id="{259A0A9D-5C81-25D5-22E2-AC4DF254F0D8}"/>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438545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174BF-3AFB-6347-2D19-4D9C5C47D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6DDCD-00F5-8E02-7776-1F9583B66A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11D7B-B53A-64AB-1848-874DAA1CF83D}"/>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8747B800-90D4-45BC-A7A0-EEB425CBCE6C}"/>
              </a:ext>
            </a:extLst>
          </p:cNvPr>
          <p:cNvSpPr>
            <a:spLocks noGrp="1"/>
          </p:cNvSpPr>
          <p:nvPr>
            <p:ph type="sldNum" sz="quarter" idx="10"/>
          </p:nvPr>
        </p:nvSpPr>
        <p:spPr/>
        <p:txBody>
          <a:bodyPr/>
          <a:lstStyle/>
          <a:p>
            <a:fld id="{24A6D18E-8B09-B24B-9169-4FC527B8D84F}" type="slidenum">
              <a:rPr lang="en-US" smtClean="0"/>
              <a:pPr/>
              <a:t>18</a:t>
            </a:fld>
            <a:endParaRPr lang="en-US"/>
          </a:p>
        </p:txBody>
      </p:sp>
      <p:sp>
        <p:nvSpPr>
          <p:cNvPr id="5" name="Footer Placeholder 4">
            <a:extLst>
              <a:ext uri="{FF2B5EF4-FFF2-40B4-BE49-F238E27FC236}">
                <a16:creationId xmlns:a16="http://schemas.microsoft.com/office/drawing/2014/main" id="{912579F3-31E1-E8C6-A4AA-67A899B8F8E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321867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81D7F-0FD2-8AC8-643A-94F8962A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3389C-286E-2D0D-297B-7DC7F7A7BA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08A52-298F-0688-CB6D-03479F34468F}"/>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4AC75A40-CF5E-EAEF-448B-F96934CE2CFC}"/>
              </a:ext>
            </a:extLst>
          </p:cNvPr>
          <p:cNvSpPr>
            <a:spLocks noGrp="1"/>
          </p:cNvSpPr>
          <p:nvPr>
            <p:ph type="sldNum" sz="quarter" idx="10"/>
          </p:nvPr>
        </p:nvSpPr>
        <p:spPr/>
        <p:txBody>
          <a:bodyPr/>
          <a:lstStyle/>
          <a:p>
            <a:fld id="{24A6D18E-8B09-B24B-9169-4FC527B8D84F}" type="slidenum">
              <a:rPr lang="en-US" smtClean="0"/>
              <a:pPr/>
              <a:t>19</a:t>
            </a:fld>
            <a:endParaRPr lang="en-US"/>
          </a:p>
        </p:txBody>
      </p:sp>
      <p:sp>
        <p:nvSpPr>
          <p:cNvPr id="5" name="Footer Placeholder 4">
            <a:extLst>
              <a:ext uri="{FF2B5EF4-FFF2-40B4-BE49-F238E27FC236}">
                <a16:creationId xmlns:a16="http://schemas.microsoft.com/office/drawing/2014/main" id="{F41E297A-8747-6E93-3A3A-270C31FA9079}"/>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1779979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0D730-6B88-E854-474A-8CA73E6E1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9492A8-FF17-F103-7C47-E7BD2B30F6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ABCB49-88DA-8C05-3D7C-A8FEF58D6B4C}"/>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1C2BD8B1-5430-C2D9-3A2E-01CA7B91ABCE}"/>
              </a:ext>
            </a:extLst>
          </p:cNvPr>
          <p:cNvSpPr>
            <a:spLocks noGrp="1"/>
          </p:cNvSpPr>
          <p:nvPr>
            <p:ph type="sldNum" sz="quarter" idx="10"/>
          </p:nvPr>
        </p:nvSpPr>
        <p:spPr/>
        <p:txBody>
          <a:bodyPr/>
          <a:lstStyle/>
          <a:p>
            <a:fld id="{24A6D18E-8B09-B24B-9169-4FC527B8D84F}" type="slidenum">
              <a:rPr lang="en-US" smtClean="0"/>
              <a:pPr/>
              <a:t>20</a:t>
            </a:fld>
            <a:endParaRPr lang="en-US"/>
          </a:p>
        </p:txBody>
      </p:sp>
      <p:sp>
        <p:nvSpPr>
          <p:cNvPr id="5" name="Footer Placeholder 4">
            <a:extLst>
              <a:ext uri="{FF2B5EF4-FFF2-40B4-BE49-F238E27FC236}">
                <a16:creationId xmlns:a16="http://schemas.microsoft.com/office/drawing/2014/main" id="{9A8624B0-35BD-6089-EB84-FC2C5555564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843897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24B62-8A27-6948-5C3B-661AD6B76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8AC74-47FD-78E7-9F9A-BCB6AB07F1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F1FCF6-A494-3E12-EDA6-D95E8A9F2E7E}"/>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38199C11-868B-15A5-A4D7-860E5EC24CF2}"/>
              </a:ext>
            </a:extLst>
          </p:cNvPr>
          <p:cNvSpPr>
            <a:spLocks noGrp="1"/>
          </p:cNvSpPr>
          <p:nvPr>
            <p:ph type="sldNum" sz="quarter" idx="10"/>
          </p:nvPr>
        </p:nvSpPr>
        <p:spPr/>
        <p:txBody>
          <a:bodyPr/>
          <a:lstStyle/>
          <a:p>
            <a:fld id="{24A6D18E-8B09-B24B-9169-4FC527B8D84F}" type="slidenum">
              <a:rPr lang="en-US" smtClean="0"/>
              <a:pPr/>
              <a:t>22</a:t>
            </a:fld>
            <a:endParaRPr lang="en-US"/>
          </a:p>
        </p:txBody>
      </p:sp>
      <p:sp>
        <p:nvSpPr>
          <p:cNvPr id="5" name="Footer Placeholder 4">
            <a:extLst>
              <a:ext uri="{FF2B5EF4-FFF2-40B4-BE49-F238E27FC236}">
                <a16:creationId xmlns:a16="http://schemas.microsoft.com/office/drawing/2014/main" id="{00A6AF4E-A47A-BCE4-FC29-A18C92626C59}"/>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9498925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032A9-2FA3-C0E2-3C84-AE5B3B604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2A1CC-84F5-98CC-CED4-224B322F4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AC70A-FDB4-C995-50EF-8C2E1D90704E}"/>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1238BF3E-5A66-EE48-8485-047804B544A6}"/>
              </a:ext>
            </a:extLst>
          </p:cNvPr>
          <p:cNvSpPr>
            <a:spLocks noGrp="1"/>
          </p:cNvSpPr>
          <p:nvPr>
            <p:ph type="sldNum" sz="quarter" idx="10"/>
          </p:nvPr>
        </p:nvSpPr>
        <p:spPr/>
        <p:txBody>
          <a:bodyPr/>
          <a:lstStyle/>
          <a:p>
            <a:fld id="{24A6D18E-8B09-B24B-9169-4FC527B8D84F}" type="slidenum">
              <a:rPr lang="en-US" smtClean="0"/>
              <a:pPr/>
              <a:t>23</a:t>
            </a:fld>
            <a:endParaRPr lang="en-US"/>
          </a:p>
        </p:txBody>
      </p:sp>
      <p:sp>
        <p:nvSpPr>
          <p:cNvPr id="5" name="Footer Placeholder 4">
            <a:extLst>
              <a:ext uri="{FF2B5EF4-FFF2-40B4-BE49-F238E27FC236}">
                <a16:creationId xmlns:a16="http://schemas.microsoft.com/office/drawing/2014/main" id="{7E5B55BF-BA02-BA57-E512-22041AF4C75B}"/>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2115876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584E4-743E-9138-5761-AD7AA8BB4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73D31-684A-7A46-1B85-8EF3EFCE77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9B1BE-B5D4-F127-0973-6F60C9DF0EA5}"/>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27522C68-9399-42E9-7EE8-744F79D8DB5C}"/>
              </a:ext>
            </a:extLst>
          </p:cNvPr>
          <p:cNvSpPr>
            <a:spLocks noGrp="1"/>
          </p:cNvSpPr>
          <p:nvPr>
            <p:ph type="sldNum" sz="quarter" idx="10"/>
          </p:nvPr>
        </p:nvSpPr>
        <p:spPr/>
        <p:txBody>
          <a:bodyPr/>
          <a:lstStyle/>
          <a:p>
            <a:fld id="{24A6D18E-8B09-B24B-9169-4FC527B8D84F}" type="slidenum">
              <a:rPr lang="en-US" smtClean="0"/>
              <a:pPr/>
              <a:t>24</a:t>
            </a:fld>
            <a:endParaRPr lang="en-US"/>
          </a:p>
        </p:txBody>
      </p:sp>
      <p:sp>
        <p:nvSpPr>
          <p:cNvPr id="5" name="Footer Placeholder 4">
            <a:extLst>
              <a:ext uri="{FF2B5EF4-FFF2-40B4-BE49-F238E27FC236}">
                <a16:creationId xmlns:a16="http://schemas.microsoft.com/office/drawing/2014/main" id="{904B1D8F-B7D7-4858-B1FD-D8B4FBE1333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791871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2EAA5-9794-3C98-CCFA-E020CC1389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E7BE7-F5A0-B4AC-7B9F-1E9767DEA1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9E250-5C7E-1DED-2401-C67838EFE7CA}"/>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A54E142F-DEBF-DCF1-2C1A-36458E2A4178}"/>
              </a:ext>
            </a:extLst>
          </p:cNvPr>
          <p:cNvSpPr>
            <a:spLocks noGrp="1"/>
          </p:cNvSpPr>
          <p:nvPr>
            <p:ph type="sldNum" sz="quarter" idx="10"/>
          </p:nvPr>
        </p:nvSpPr>
        <p:spPr/>
        <p:txBody>
          <a:bodyPr/>
          <a:lstStyle/>
          <a:p>
            <a:fld id="{24A6D18E-8B09-B24B-9169-4FC527B8D84F}" type="slidenum">
              <a:rPr lang="en-US" smtClean="0"/>
              <a:pPr/>
              <a:t>25</a:t>
            </a:fld>
            <a:endParaRPr lang="en-US"/>
          </a:p>
        </p:txBody>
      </p:sp>
      <p:sp>
        <p:nvSpPr>
          <p:cNvPr id="5" name="Footer Placeholder 4">
            <a:extLst>
              <a:ext uri="{FF2B5EF4-FFF2-40B4-BE49-F238E27FC236}">
                <a16:creationId xmlns:a16="http://schemas.microsoft.com/office/drawing/2014/main" id="{5380ECC1-AF22-BFF1-BE4E-FAB6C8D76D3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2901032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A6D18E-8B09-B24B-9169-4FC527B8D84F}" type="slidenum">
              <a:rPr lang="en-US" smtClean="0"/>
              <a:pPr/>
              <a:t>28</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215815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names</a:t>
            </a:r>
          </a:p>
        </p:txBody>
      </p:sp>
      <p:sp>
        <p:nvSpPr>
          <p:cNvPr id="4" name="Slide Number Placeholder 3"/>
          <p:cNvSpPr>
            <a:spLocks noGrp="1"/>
          </p:cNvSpPr>
          <p:nvPr>
            <p:ph type="sldNum" sz="quarter" idx="10"/>
          </p:nvPr>
        </p:nvSpPr>
        <p:spPr/>
        <p:txBody>
          <a:bodyPr/>
          <a:lstStyle/>
          <a:p>
            <a:fld id="{24A6D18E-8B09-B24B-9169-4FC527B8D84F}" type="slidenum">
              <a:rPr lang="en-US" smtClean="0"/>
              <a:pPr/>
              <a:t>29</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616890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Rectangle 8"/>
          <p:cNvSpPr>
            <a:spLocks noChangeArrowheads="1"/>
          </p:cNvSpPr>
          <p:nvPr userDrawn="1"/>
        </p:nvSpPr>
        <p:spPr bwMode="auto">
          <a:xfrm>
            <a:off x="0" y="4633931"/>
            <a:ext cx="9144000" cy="509569"/>
          </a:xfrm>
          <a:prstGeom prst="rect">
            <a:avLst/>
          </a:prstGeom>
          <a:solidFill>
            <a:srgbClr val="C8102E"/>
          </a:solidFill>
          <a:ln w="9525">
            <a:noFill/>
            <a:miter lim="800000"/>
            <a:headEnd/>
            <a:tailEnd/>
          </a:ln>
          <a:effectLst/>
        </p:spPr>
        <p:txBody>
          <a:bodyPr wrap="none" anchor="ctr">
            <a:prstTxWarp prst="textNoShape">
              <a:avLst/>
            </a:prstTxWarp>
          </a:bodyPr>
          <a:lstStyle/>
          <a:p>
            <a:endParaRPr lang="en-US"/>
          </a:p>
        </p:txBody>
      </p:sp>
      <p:sp>
        <p:nvSpPr>
          <p:cNvPr id="1035" name="Text Box 11"/>
          <p:cNvSpPr txBox="1">
            <a:spLocks noChangeArrowheads="1"/>
          </p:cNvSpPr>
          <p:nvPr/>
        </p:nvSpPr>
        <p:spPr bwMode="auto">
          <a:xfrm>
            <a:off x="212725" y="2616994"/>
            <a:ext cx="184666" cy="461665"/>
          </a:xfrm>
          <a:prstGeom prst="rect">
            <a:avLst/>
          </a:prstGeom>
          <a:noFill/>
          <a:ln w="9525">
            <a:noFill/>
            <a:miter lim="800000"/>
            <a:headEnd/>
            <a:tailEnd/>
          </a:ln>
          <a:effectLst/>
        </p:spPr>
        <p:txBody>
          <a:bodyPr wrap="none">
            <a:prstTxWarp prst="textNoShape">
              <a:avLst/>
            </a:prstTxWarp>
            <a:spAutoFit/>
          </a:bodyPr>
          <a:lstStyle/>
          <a:p>
            <a:endParaRPr lang="en-US"/>
          </a:p>
        </p:txBody>
      </p:sp>
      <p:pic>
        <p:nvPicPr>
          <p:cNvPr id="12" name="Picture 11" descr="ISU LEFT white.eps"/>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381000" y="4788715"/>
            <a:ext cx="2396490" cy="197359"/>
          </a:xfrm>
          <a:prstGeom prst="rect">
            <a:avLst/>
          </a:prstGeom>
          <a:noFill/>
          <a:ln w="9525">
            <a:noFill/>
            <a:miter lim="800000"/>
            <a:headEnd/>
            <a:tailEnd/>
          </a:ln>
        </p:spPr>
      </p:pic>
      <p:sp>
        <p:nvSpPr>
          <p:cNvPr id="7" name="Text Placeholder 4"/>
          <p:cNvSpPr txBox="1">
            <a:spLocks/>
          </p:cNvSpPr>
          <p:nvPr userDrawn="1"/>
        </p:nvSpPr>
        <p:spPr>
          <a:xfrm>
            <a:off x="4163705" y="4755356"/>
            <a:ext cx="4191000" cy="285750"/>
          </a:xfrm>
          <a:prstGeom prst="rect">
            <a:avLst/>
          </a:prstGeom>
        </p:spPr>
        <p:txBody>
          <a:bodyPr/>
          <a:lstStyle>
            <a:lvl1pPr marL="0" indent="0" algn="r" rtl="0" fontAlgn="base">
              <a:spcBef>
                <a:spcPct val="20000"/>
              </a:spcBef>
              <a:spcAft>
                <a:spcPct val="0"/>
              </a:spcAft>
              <a:buClr>
                <a:srgbClr val="CE1126"/>
              </a:buClr>
              <a:buSzPct val="80000"/>
              <a:buFont typeface="Times" charset="0"/>
              <a:buNone/>
              <a:defRPr sz="1600" b="1" i="0" baseline="0">
                <a:solidFill>
                  <a:schemeClr val="bg1"/>
                </a:solidFill>
                <a:latin typeface="Univers 65" charset="0"/>
                <a:ea typeface="Univers 65" charset="0"/>
                <a:cs typeface="Univers 65" charset="0"/>
              </a:defRPr>
            </a:lvl1pPr>
            <a:lvl2pPr marL="742950" indent="-285750" algn="l" rtl="0" fontAlgn="base">
              <a:spcBef>
                <a:spcPct val="20000"/>
              </a:spcBef>
              <a:spcAft>
                <a:spcPct val="0"/>
              </a:spcAft>
              <a:buClr>
                <a:srgbClr val="CE1126"/>
              </a:buClr>
              <a:buSzPct val="80000"/>
              <a:buFont typeface="Times" charset="0"/>
              <a:buChar char="•"/>
              <a:defRPr sz="2600">
                <a:solidFill>
                  <a:srgbClr val="6E6259"/>
                </a:solidFill>
                <a:latin typeface="+mn-lt"/>
                <a:ea typeface="Geneva" charset="-128"/>
              </a:defRPr>
            </a:lvl2pPr>
            <a:lvl3pPr marL="1143000" indent="-228600" algn="l" rtl="0" fontAlgn="base">
              <a:spcBef>
                <a:spcPct val="20000"/>
              </a:spcBef>
              <a:spcAft>
                <a:spcPct val="0"/>
              </a:spcAft>
              <a:buClr>
                <a:srgbClr val="CE1126"/>
              </a:buClr>
              <a:buSzPct val="80000"/>
              <a:buFont typeface="Times" charset="0"/>
              <a:buChar char="•"/>
              <a:defRPr sz="2600">
                <a:solidFill>
                  <a:srgbClr val="6E6259"/>
                </a:solidFill>
                <a:latin typeface="+mn-lt"/>
                <a:ea typeface="Geneva" charset="-128"/>
              </a:defRPr>
            </a:lvl3pPr>
            <a:lvl4pPr marL="1600200" indent="-228600" algn="l" rtl="0" fontAlgn="base">
              <a:spcBef>
                <a:spcPct val="20000"/>
              </a:spcBef>
              <a:spcAft>
                <a:spcPct val="0"/>
              </a:spcAft>
              <a:buClr>
                <a:srgbClr val="CE1126"/>
              </a:buClr>
              <a:buSzPct val="80000"/>
              <a:buFont typeface="Times" charset="0"/>
              <a:buChar char="•"/>
              <a:defRPr sz="2600">
                <a:solidFill>
                  <a:srgbClr val="6E6259"/>
                </a:solidFill>
                <a:latin typeface="+mn-lt"/>
                <a:ea typeface="Geneva" charset="-128"/>
              </a:defRPr>
            </a:lvl4pPr>
            <a:lvl5pPr marL="2057400" indent="-228600" algn="l" rtl="0" fontAlgn="base">
              <a:spcBef>
                <a:spcPct val="20000"/>
              </a:spcBef>
              <a:spcAft>
                <a:spcPct val="0"/>
              </a:spcAft>
              <a:buClr>
                <a:srgbClr val="CE1126"/>
              </a:buClr>
              <a:buSzPct val="80000"/>
              <a:buFont typeface="Times" charset="0"/>
              <a:buChar char="•"/>
              <a:defRPr sz="2600">
                <a:solidFill>
                  <a:srgbClr val="6E6259"/>
                </a:solidFill>
                <a:latin typeface="+mn-lt"/>
                <a:ea typeface="Geneva" charset="-128"/>
              </a:defRPr>
            </a:lvl5pPr>
            <a:lvl6pPr marL="2514600" indent="-228600" algn="l" rtl="0" fontAlgn="base">
              <a:spcBef>
                <a:spcPct val="20000"/>
              </a:spcBef>
              <a:spcAft>
                <a:spcPct val="0"/>
              </a:spcAft>
              <a:buClr>
                <a:srgbClr val="CE1126"/>
              </a:buClr>
              <a:buSzPct val="80000"/>
              <a:buFont typeface="Times" charset="0"/>
              <a:buChar char="•"/>
              <a:defRPr sz="2600">
                <a:solidFill>
                  <a:srgbClr val="7A6E67"/>
                </a:solidFill>
                <a:latin typeface="+mn-lt"/>
                <a:ea typeface="Geneva" charset="-128"/>
              </a:defRPr>
            </a:lvl6pPr>
            <a:lvl7pPr marL="2971800" indent="-228600" algn="l" rtl="0" fontAlgn="base">
              <a:spcBef>
                <a:spcPct val="20000"/>
              </a:spcBef>
              <a:spcAft>
                <a:spcPct val="0"/>
              </a:spcAft>
              <a:buClr>
                <a:srgbClr val="CE1126"/>
              </a:buClr>
              <a:buSzPct val="80000"/>
              <a:buFont typeface="Times" charset="0"/>
              <a:buChar char="•"/>
              <a:defRPr sz="2600">
                <a:solidFill>
                  <a:srgbClr val="7A6E67"/>
                </a:solidFill>
                <a:latin typeface="+mn-lt"/>
                <a:ea typeface="Geneva" charset="-128"/>
              </a:defRPr>
            </a:lvl7pPr>
            <a:lvl8pPr marL="3429000" indent="-228600" algn="l" rtl="0" fontAlgn="base">
              <a:spcBef>
                <a:spcPct val="20000"/>
              </a:spcBef>
              <a:spcAft>
                <a:spcPct val="0"/>
              </a:spcAft>
              <a:buClr>
                <a:srgbClr val="CE1126"/>
              </a:buClr>
              <a:buSzPct val="80000"/>
              <a:buFont typeface="Times" charset="0"/>
              <a:buChar char="•"/>
              <a:defRPr sz="2600">
                <a:solidFill>
                  <a:srgbClr val="7A6E67"/>
                </a:solidFill>
                <a:latin typeface="+mn-lt"/>
                <a:ea typeface="Geneva" charset="-128"/>
              </a:defRPr>
            </a:lvl8pPr>
            <a:lvl9pPr marL="3886200" indent="-228600" algn="l" rtl="0" fontAlgn="base">
              <a:spcBef>
                <a:spcPct val="20000"/>
              </a:spcBef>
              <a:spcAft>
                <a:spcPct val="0"/>
              </a:spcAft>
              <a:buClr>
                <a:srgbClr val="CE1126"/>
              </a:buClr>
              <a:buSzPct val="80000"/>
              <a:buFont typeface="Times" charset="0"/>
              <a:buChar char="•"/>
              <a:defRPr sz="2600">
                <a:solidFill>
                  <a:srgbClr val="7A6E67"/>
                </a:solidFill>
                <a:latin typeface="+mn-lt"/>
                <a:ea typeface="Geneva" charset="-128"/>
              </a:defRPr>
            </a:lvl9pPr>
          </a:lstStyle>
          <a:p>
            <a:pPr eaLnBrk="1" hangingPunct="1"/>
            <a:r>
              <a:rPr lang="en-US" sz="1200" kern="0" dirty="0">
                <a:latin typeface="Univers 75 Black" charset="0"/>
                <a:ea typeface="Univers 75 Black" charset="0"/>
                <a:cs typeface="Univers 75 Black" charset="0"/>
              </a:rPr>
              <a:t>Department of Statistics</a:t>
            </a:r>
          </a:p>
        </p:txBody>
      </p:sp>
      <p:cxnSp>
        <p:nvCxnSpPr>
          <p:cNvPr id="10" name="Straight Connector 9"/>
          <p:cNvCxnSpPr/>
          <p:nvPr userDrawn="1"/>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18" name="Slide Number Placeholder 5"/>
          <p:cNvSpPr txBox="1">
            <a:spLocks/>
          </p:cNvSpPr>
          <p:nvPr userDrawn="1"/>
        </p:nvSpPr>
        <p:spPr>
          <a:xfrm>
            <a:off x="8534400" y="4755356"/>
            <a:ext cx="533400" cy="274637"/>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457200" rtl="0" eaLnBrk="1" latinLnBrk="0" hangingPunct="1">
              <a:defRPr sz="2400" kern="1200">
                <a:solidFill>
                  <a:schemeClr val="tx1"/>
                </a:solidFill>
                <a:latin typeface="Times" charset="0"/>
                <a:ea typeface="+mn-ea"/>
                <a:cs typeface="+mn-cs"/>
              </a:defRPr>
            </a:lvl6pPr>
            <a:lvl7pPr marL="2743200" algn="l" defTabSz="457200" rtl="0" eaLnBrk="1" latinLnBrk="0" hangingPunct="1">
              <a:defRPr sz="2400" kern="1200">
                <a:solidFill>
                  <a:schemeClr val="tx1"/>
                </a:solidFill>
                <a:latin typeface="Times" charset="0"/>
                <a:ea typeface="+mn-ea"/>
                <a:cs typeface="+mn-cs"/>
              </a:defRPr>
            </a:lvl7pPr>
            <a:lvl8pPr marL="3200400" algn="l" defTabSz="457200" rtl="0" eaLnBrk="1" latinLnBrk="0" hangingPunct="1">
              <a:defRPr sz="2400" kern="1200">
                <a:solidFill>
                  <a:schemeClr val="tx1"/>
                </a:solidFill>
                <a:latin typeface="Times" charset="0"/>
                <a:ea typeface="+mn-ea"/>
                <a:cs typeface="+mn-cs"/>
              </a:defRPr>
            </a:lvl8pPr>
            <a:lvl9pPr marL="3657600" algn="l" defTabSz="457200" rtl="0" eaLnBrk="1" latinLnBrk="0" hangingPunct="1">
              <a:defRPr sz="2400" kern="1200">
                <a:solidFill>
                  <a:schemeClr val="tx1"/>
                </a:solidFill>
                <a:latin typeface="Times" charset="0"/>
                <a:ea typeface="+mn-ea"/>
                <a:cs typeface="+mn-cs"/>
              </a:defRPr>
            </a:lvl9pPr>
          </a:lstStyle>
          <a:p>
            <a:pPr algn="l"/>
            <a:fld id="{60FAC648-EA3A-9C41-B47D-FEC33027B8CE}" type="slidenum">
              <a:rPr lang="en-US" smtClean="0">
                <a:solidFill>
                  <a:schemeClr val="bg1"/>
                </a:solidFill>
              </a:rPr>
              <a:pPr algn="l"/>
              <a:t>‹#›</a:t>
            </a:fld>
            <a:endParaRPr lang="en-US" dirty="0">
              <a:solidFill>
                <a:schemeClr val="bg1"/>
              </a:solidFill>
            </a:endParaRPr>
          </a:p>
        </p:txBody>
      </p:sp>
      <p:sp>
        <p:nvSpPr>
          <p:cNvPr id="15" name="Footer Placeholder 1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cSld>
  <p:clrMap bg1="lt1" tx1="dk1" bg2="lt2" tx2="dk2" accent1="accent1" accent2="accent2" accent3="accent3" accent4="accent4" accent5="accent5" accent6="accent6" hlink="hlink" folHlink="folHlink"/>
  <p:sldLayoutIdLst>
    <p:sldLayoutId id="2147483650" r:id="rId1"/>
  </p:sldLayoutIdLst>
  <p:hf hdr="0" dt="0"/>
  <p:txStyles>
    <p:titleStyle>
      <a:lvl1pPr algn="l" rtl="0" eaLnBrk="1" fontAlgn="base" hangingPunct="1">
        <a:spcBef>
          <a:spcPct val="0"/>
        </a:spcBef>
        <a:spcAft>
          <a:spcPct val="0"/>
        </a:spcAft>
        <a:defRPr sz="3500">
          <a:solidFill>
            <a:srgbClr val="C8102E"/>
          </a:solidFill>
          <a:latin typeface="+mj-lt"/>
          <a:ea typeface="+mj-ea"/>
          <a:cs typeface="+mj-cs"/>
        </a:defRPr>
      </a:lvl1pPr>
      <a:lvl2pPr algn="l" rtl="0" eaLnBrk="1" fontAlgn="base" hangingPunct="1">
        <a:spcBef>
          <a:spcPct val="0"/>
        </a:spcBef>
        <a:spcAft>
          <a:spcPct val="0"/>
        </a:spcAft>
        <a:defRPr sz="3500">
          <a:solidFill>
            <a:srgbClr val="CE1126"/>
          </a:solidFill>
          <a:latin typeface="Univers 67 CondensedBold" charset="0"/>
        </a:defRPr>
      </a:lvl2pPr>
      <a:lvl3pPr algn="l" rtl="0" eaLnBrk="1" fontAlgn="base" hangingPunct="1">
        <a:spcBef>
          <a:spcPct val="0"/>
        </a:spcBef>
        <a:spcAft>
          <a:spcPct val="0"/>
        </a:spcAft>
        <a:defRPr sz="3500">
          <a:solidFill>
            <a:srgbClr val="CE1126"/>
          </a:solidFill>
          <a:latin typeface="Univers 67 CondensedBold" charset="0"/>
        </a:defRPr>
      </a:lvl3pPr>
      <a:lvl4pPr algn="l" rtl="0" eaLnBrk="1" fontAlgn="base" hangingPunct="1">
        <a:spcBef>
          <a:spcPct val="0"/>
        </a:spcBef>
        <a:spcAft>
          <a:spcPct val="0"/>
        </a:spcAft>
        <a:defRPr sz="3500">
          <a:solidFill>
            <a:srgbClr val="CE1126"/>
          </a:solidFill>
          <a:latin typeface="Univers 67 CondensedBold" charset="0"/>
        </a:defRPr>
      </a:lvl4pPr>
      <a:lvl5pPr algn="l" rtl="0" eaLnBrk="1" fontAlgn="base" hangingPunct="1">
        <a:spcBef>
          <a:spcPct val="0"/>
        </a:spcBef>
        <a:spcAft>
          <a:spcPct val="0"/>
        </a:spcAft>
        <a:defRPr sz="3500">
          <a:solidFill>
            <a:srgbClr val="CE1126"/>
          </a:solidFill>
          <a:latin typeface="Univers 67 CondensedBold" charset="0"/>
        </a:defRPr>
      </a:lvl5pPr>
      <a:lvl6pPr marL="457200" algn="l" rtl="0" eaLnBrk="1" fontAlgn="base" hangingPunct="1">
        <a:spcBef>
          <a:spcPct val="0"/>
        </a:spcBef>
        <a:spcAft>
          <a:spcPct val="0"/>
        </a:spcAft>
        <a:defRPr sz="3500">
          <a:solidFill>
            <a:srgbClr val="CE1126"/>
          </a:solidFill>
          <a:latin typeface="Univers 67 CondensedBold" charset="0"/>
        </a:defRPr>
      </a:lvl6pPr>
      <a:lvl7pPr marL="914400" algn="l" rtl="0" eaLnBrk="1" fontAlgn="base" hangingPunct="1">
        <a:spcBef>
          <a:spcPct val="0"/>
        </a:spcBef>
        <a:spcAft>
          <a:spcPct val="0"/>
        </a:spcAft>
        <a:defRPr sz="3500">
          <a:solidFill>
            <a:srgbClr val="CE1126"/>
          </a:solidFill>
          <a:latin typeface="Univers 67 CondensedBold" charset="0"/>
        </a:defRPr>
      </a:lvl7pPr>
      <a:lvl8pPr marL="1371600" algn="l" rtl="0" eaLnBrk="1" fontAlgn="base" hangingPunct="1">
        <a:spcBef>
          <a:spcPct val="0"/>
        </a:spcBef>
        <a:spcAft>
          <a:spcPct val="0"/>
        </a:spcAft>
        <a:defRPr sz="3500">
          <a:solidFill>
            <a:srgbClr val="CE1126"/>
          </a:solidFill>
          <a:latin typeface="Univers 67 CondensedBold" charset="0"/>
        </a:defRPr>
      </a:lvl8pPr>
      <a:lvl9pPr marL="1828800" algn="l" rtl="0" eaLnBrk="1" fontAlgn="base" hangingPunct="1">
        <a:spcBef>
          <a:spcPct val="0"/>
        </a:spcBef>
        <a:spcAft>
          <a:spcPct val="0"/>
        </a:spcAft>
        <a:defRPr sz="3500">
          <a:solidFill>
            <a:srgbClr val="CE1126"/>
          </a:solidFill>
          <a:latin typeface="Univers 67 CondensedBold" charset="0"/>
        </a:defRPr>
      </a:lvl9pPr>
    </p:titleStyle>
    <p:bodyStyle>
      <a:lvl1pPr marL="342900" indent="-34290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mn-ea"/>
          <a:cs typeface="+mn-cs"/>
        </a:defRPr>
      </a:lvl1pPr>
      <a:lvl2pPr marL="742950" indent="-28575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Geneva" charset="-128"/>
        </a:defRPr>
      </a:lvl2pPr>
      <a:lvl3pPr marL="1143000" indent="-22860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Geneva" charset="-128"/>
        </a:defRPr>
      </a:lvl3pPr>
      <a:lvl4pPr marL="1600200" indent="-22860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Geneva" charset="-128"/>
        </a:defRPr>
      </a:lvl4pPr>
      <a:lvl5pPr marL="2057400" indent="-22860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Geneva" charset="-128"/>
        </a:defRPr>
      </a:lvl5pPr>
      <a:lvl6pPr marL="2514600" indent="-228600" algn="l" rtl="0" eaLnBrk="1" fontAlgn="base" hangingPunct="1">
        <a:spcBef>
          <a:spcPct val="20000"/>
        </a:spcBef>
        <a:spcAft>
          <a:spcPct val="0"/>
        </a:spcAft>
        <a:buClr>
          <a:srgbClr val="CE1126"/>
        </a:buClr>
        <a:buSzPct val="80000"/>
        <a:buFont typeface="Times" charset="0"/>
        <a:buChar char="•"/>
        <a:defRPr sz="2600">
          <a:solidFill>
            <a:srgbClr val="7A6E67"/>
          </a:solidFill>
          <a:latin typeface="+mn-lt"/>
          <a:ea typeface="Geneva" charset="-128"/>
        </a:defRPr>
      </a:lvl6pPr>
      <a:lvl7pPr marL="2971800" indent="-228600" algn="l" rtl="0" eaLnBrk="1" fontAlgn="base" hangingPunct="1">
        <a:spcBef>
          <a:spcPct val="20000"/>
        </a:spcBef>
        <a:spcAft>
          <a:spcPct val="0"/>
        </a:spcAft>
        <a:buClr>
          <a:srgbClr val="CE1126"/>
        </a:buClr>
        <a:buSzPct val="80000"/>
        <a:buFont typeface="Times" charset="0"/>
        <a:buChar char="•"/>
        <a:defRPr sz="2600">
          <a:solidFill>
            <a:srgbClr val="7A6E67"/>
          </a:solidFill>
          <a:latin typeface="+mn-lt"/>
          <a:ea typeface="Geneva" charset="-128"/>
        </a:defRPr>
      </a:lvl7pPr>
      <a:lvl8pPr marL="3429000" indent="-228600" algn="l" rtl="0" eaLnBrk="1" fontAlgn="base" hangingPunct="1">
        <a:spcBef>
          <a:spcPct val="20000"/>
        </a:spcBef>
        <a:spcAft>
          <a:spcPct val="0"/>
        </a:spcAft>
        <a:buClr>
          <a:srgbClr val="CE1126"/>
        </a:buClr>
        <a:buSzPct val="80000"/>
        <a:buFont typeface="Times" charset="0"/>
        <a:buChar char="•"/>
        <a:defRPr sz="2600">
          <a:solidFill>
            <a:srgbClr val="7A6E67"/>
          </a:solidFill>
          <a:latin typeface="+mn-lt"/>
          <a:ea typeface="Geneva" charset="-128"/>
        </a:defRPr>
      </a:lvl8pPr>
      <a:lvl9pPr marL="3886200" indent="-228600" algn="l" rtl="0" eaLnBrk="1" fontAlgn="base" hangingPunct="1">
        <a:spcBef>
          <a:spcPct val="20000"/>
        </a:spcBef>
        <a:spcAft>
          <a:spcPct val="0"/>
        </a:spcAft>
        <a:buClr>
          <a:srgbClr val="CE1126"/>
        </a:buClr>
        <a:buSzPct val="80000"/>
        <a:buFont typeface="Times" charset="0"/>
        <a:buChar char="•"/>
        <a:defRPr sz="2600">
          <a:solidFill>
            <a:srgbClr val="7A6E67"/>
          </a:solidFill>
          <a:latin typeface="+mn-lt"/>
          <a:ea typeface="Geneva"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hyperlink" Target="https://zoltardata.com/" TargetMode="External"/><Relationship Id="rId3" Type="http://schemas.openxmlformats.org/officeDocument/2006/relationships/hyperlink" Target="https://www.cdc.gov/flu-forecasting/data-vis/current-week.html" TargetMode="External"/><Relationship Id="rId7" Type="http://schemas.openxmlformats.org/officeDocument/2006/relationships/hyperlink" Target="https://github.com/reichlab/covid19-forecast-hub" TargetMode="External"/><Relationship Id="rId2" Type="http://schemas.openxmlformats.org/officeDocument/2006/relationships/image" Target="../media/image4.emf"/><Relationship Id="rId1" Type="http://schemas.openxmlformats.org/officeDocument/2006/relationships/slideLayout" Target="../slideLayouts/slideLayout1.xml"/><Relationship Id="rId6" Type="http://schemas.openxmlformats.org/officeDocument/2006/relationships/hyperlink" Target="https://viz.covid19forecasthub.org/" TargetMode="External"/><Relationship Id="rId5" Type="http://schemas.openxmlformats.org/officeDocument/2006/relationships/hyperlink" Target="https://github.com/reichlab/flusight-dashboard" TargetMode="External"/><Relationship Id="rId4" Type="http://schemas.openxmlformats.org/officeDocument/2006/relationships/hyperlink" Target="https://reichlab.io/flusight-dashboard/"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pnas.org/doi/10.1073/pnas.2113561119" TargetMode="Externa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2" name="Rectangle 11"/>
          <p:cNvSpPr/>
          <p:nvPr/>
        </p:nvSpPr>
        <p:spPr bwMode="auto">
          <a:xfrm>
            <a:off x="0" y="0"/>
            <a:ext cx="9144000" cy="5143500"/>
          </a:xfrm>
          <a:prstGeom prst="rect">
            <a:avLst/>
          </a:prstGeom>
          <a:solidFill>
            <a:srgbClr val="C8102E">
              <a:alpha val="9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C8102E"/>
              </a:solidFill>
              <a:effectLst/>
              <a:latin typeface="Times" charset="0"/>
            </a:endParaRPr>
          </a:p>
        </p:txBody>
      </p:sp>
      <p:cxnSp>
        <p:nvCxnSpPr>
          <p:cNvPr id="49" name="Straight Connector 48"/>
          <p:cNvCxnSpPr/>
          <p:nvPr/>
        </p:nvCxnSpPr>
        <p:spPr bwMode="auto">
          <a:xfrm>
            <a:off x="0" y="3511550"/>
            <a:ext cx="9144000" cy="0"/>
          </a:xfrm>
          <a:prstGeom prst="line">
            <a:avLst/>
          </a:prstGeom>
          <a:solidFill>
            <a:schemeClr val="accent1"/>
          </a:solidFill>
          <a:ln w="9525" cap="flat" cmpd="sng" algn="ctr">
            <a:solidFill>
              <a:srgbClr val="F1BE48">
                <a:alpha val="80000"/>
              </a:srgbClr>
            </a:solidFill>
            <a:prstDash val="solid"/>
            <a:round/>
            <a:headEnd type="none" w="med" len="med"/>
            <a:tailEnd type="none" w="med" len="med"/>
          </a:ln>
          <a:effectLst/>
        </p:spPr>
      </p:cxnSp>
      <p:sp>
        <p:nvSpPr>
          <p:cNvPr id="11" name="TextBox 10"/>
          <p:cNvSpPr txBox="1"/>
          <p:nvPr/>
        </p:nvSpPr>
        <p:spPr>
          <a:xfrm>
            <a:off x="914400" y="1453575"/>
            <a:ext cx="7162800" cy="1323439"/>
          </a:xfrm>
          <a:prstGeom prst="rect">
            <a:avLst/>
          </a:prstGeom>
          <a:noFill/>
        </p:spPr>
        <p:txBody>
          <a:bodyPr wrap="square" rtlCol="0" anchor="b" anchorCtr="0">
            <a:spAutoFit/>
          </a:bodyPr>
          <a:lstStyle/>
          <a:p>
            <a:r>
              <a:rPr lang="en-US" sz="4000" dirty="0">
                <a:solidFill>
                  <a:schemeClr val="bg1"/>
                </a:solidFill>
                <a:latin typeface="Univers 57 Condensed" charset="0"/>
                <a:ea typeface="Univers 57 Condensed" charset="0"/>
                <a:cs typeface="Univers 57 Condensed" charset="0"/>
              </a:rPr>
              <a:t>Bayesian Methodology for Disease Severity Forecasting</a:t>
            </a:r>
          </a:p>
        </p:txBody>
      </p:sp>
      <p:pic>
        <p:nvPicPr>
          <p:cNvPr id="13" name="Picture 12" descr="ISU LEFT white.eps"/>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77000" y="4788715"/>
            <a:ext cx="2396490" cy="197359"/>
          </a:xfrm>
          <a:prstGeom prst="rect">
            <a:avLst/>
          </a:prstGeom>
          <a:noFill/>
          <a:ln w="9525">
            <a:noFill/>
            <a:miter lim="800000"/>
            <a:headEnd/>
            <a:tailEnd/>
          </a:ln>
        </p:spPr>
      </p:pic>
      <p:sp>
        <p:nvSpPr>
          <p:cNvPr id="14" name="TextBox 13"/>
          <p:cNvSpPr txBox="1"/>
          <p:nvPr/>
        </p:nvSpPr>
        <p:spPr>
          <a:xfrm>
            <a:off x="934453" y="3822835"/>
            <a:ext cx="7162800" cy="338554"/>
          </a:xfrm>
          <a:prstGeom prst="rect">
            <a:avLst/>
          </a:prstGeom>
          <a:noFill/>
        </p:spPr>
        <p:txBody>
          <a:bodyPr wrap="square" rtlCol="0">
            <a:spAutoFit/>
          </a:bodyPr>
          <a:lstStyle/>
          <a:p>
            <a:pPr fontAlgn="b"/>
            <a:r>
              <a:rPr lang="en-US" sz="1600" i="1" dirty="0">
                <a:solidFill>
                  <a:schemeClr val="bg1"/>
                </a:solidFill>
                <a:latin typeface="ITC Berkeley Oldstyle Book" charset="0"/>
                <a:ea typeface="ITC Berkeley Oldstyle Book" charset="0"/>
                <a:cs typeface="ITC Berkeley Oldstyle Book" charset="0"/>
              </a:rPr>
              <a:t>Jarad Niemi, Spencer Wadsworth</a:t>
            </a:r>
          </a:p>
        </p:txBody>
      </p:sp>
    </p:spTree>
    <p:extLst>
      <p:ext uri="{BB962C8B-B14F-4D97-AF65-F5344CB8AC3E}">
        <p14:creationId xmlns:p14="http://schemas.microsoft.com/office/powerpoint/2010/main" val="693819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A04EC-69BE-0620-95FE-0ABA643C6E54}"/>
            </a:ext>
          </a:extLst>
        </p:cNvPr>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4AAB4CC6-81BF-92A9-2B40-BD267E81A306}"/>
              </a:ext>
            </a:extLst>
          </p:cNvPr>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2" name="Rectangle 1">
            <a:extLst>
              <a:ext uri="{FF2B5EF4-FFF2-40B4-BE49-F238E27FC236}">
                <a16:creationId xmlns:a16="http://schemas.microsoft.com/office/drawing/2014/main" id="{8238EDEB-28D0-CBC9-9A6F-BDCDFA01A679}"/>
              </a:ext>
            </a:extLst>
          </p:cNvPr>
          <p:cNvSpPr/>
          <p:nvPr/>
        </p:nvSpPr>
        <p:spPr bwMode="auto">
          <a:xfrm>
            <a:off x="0" y="0"/>
            <a:ext cx="3090672" cy="4636008"/>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pic>
        <p:nvPicPr>
          <p:cNvPr id="4" name="Picture 3" descr="A graph of a patient&#10;&#10;AI-generated content may be incorrect.">
            <a:extLst>
              <a:ext uri="{FF2B5EF4-FFF2-40B4-BE49-F238E27FC236}">
                <a16:creationId xmlns:a16="http://schemas.microsoft.com/office/drawing/2014/main" id="{59B3013C-A7F1-E0BF-D62D-BCD63C220705}"/>
              </a:ext>
            </a:extLst>
          </p:cNvPr>
          <p:cNvPicPr>
            <a:picLocks noChangeAspect="1"/>
          </p:cNvPicPr>
          <p:nvPr/>
        </p:nvPicPr>
        <p:blipFill>
          <a:blip r:embed="rId2"/>
          <a:srcRect l="-5863" r="-508"/>
          <a:stretch/>
        </p:blipFill>
        <p:spPr>
          <a:xfrm>
            <a:off x="-484632" y="2"/>
            <a:ext cx="8561832" cy="4636005"/>
          </a:xfrm>
          <a:prstGeom prst="rect">
            <a:avLst/>
          </a:prstGeom>
        </p:spPr>
      </p:pic>
      <p:sp>
        <p:nvSpPr>
          <p:cNvPr id="15" name="TextBox 14">
            <a:extLst>
              <a:ext uri="{FF2B5EF4-FFF2-40B4-BE49-F238E27FC236}">
                <a16:creationId xmlns:a16="http://schemas.microsoft.com/office/drawing/2014/main" id="{4331222A-D600-0F49-1B1A-2669C4F10A4C}"/>
              </a:ext>
            </a:extLst>
          </p:cNvPr>
          <p:cNvSpPr txBox="1"/>
          <p:nvPr/>
        </p:nvSpPr>
        <p:spPr>
          <a:xfrm>
            <a:off x="6723394" y="878710"/>
            <a:ext cx="3258806" cy="1531445"/>
          </a:xfrm>
          <a:prstGeom prst="rect">
            <a:avLst/>
          </a:prstGeom>
          <a:solidFill>
            <a:schemeClr val="bg1"/>
          </a:solidFill>
        </p:spPr>
        <p:txBody>
          <a:bodyPr wrap="square" rtlCol="0">
            <a:spAutoFit/>
          </a:bodyPr>
          <a:lstStyle/>
          <a:p>
            <a:pPr marL="285750" indent="-285750">
              <a:lnSpc>
                <a:spcPct val="150000"/>
              </a:lnSpc>
              <a:spcBef>
                <a:spcPts val="0"/>
              </a:spcBef>
              <a:buBlip>
                <a:blip r:embed="rId3"/>
              </a:buBlip>
            </a:pPr>
            <a:r>
              <a:rPr lang="en-US" sz="1600" dirty="0">
                <a:solidFill>
                  <a:srgbClr val="7A6E67"/>
                </a:solidFill>
                <a:latin typeface="ITC Berkeley Oldstyle Medium" charset="0"/>
                <a:ea typeface="ITC Berkeley Oldstyle Medium" charset="0"/>
                <a:cs typeface="ITC Berkeley Oldstyle Medium" charset="0"/>
              </a:rPr>
              <a:t>CDC Flu Forecasting</a:t>
            </a:r>
          </a:p>
          <a:p>
            <a:pPr marL="285750" indent="-285750">
              <a:lnSpc>
                <a:spcPct val="150000"/>
              </a:lnSpc>
              <a:spcBef>
                <a:spcPts val="0"/>
              </a:spcBef>
              <a:buBlip>
                <a:blip r:embed="rId3"/>
              </a:buBlip>
            </a:pPr>
            <a:r>
              <a:rPr lang="en-US" sz="1600" dirty="0">
                <a:solidFill>
                  <a:srgbClr val="7A6E67"/>
                </a:solidFill>
                <a:latin typeface="ITC Berkeley Oldstyle Medium" charset="0"/>
                <a:ea typeface="ITC Berkeley Oldstyle Medium" charset="0"/>
                <a:cs typeface="ITC Berkeley Oldstyle Medium" charset="0"/>
              </a:rPr>
              <a:t>Bayesian Modeling</a:t>
            </a:r>
          </a:p>
          <a:p>
            <a:pPr marL="285750" indent="-285750">
              <a:lnSpc>
                <a:spcPct val="150000"/>
              </a:lnSpc>
              <a:spcBef>
                <a:spcPts val="0"/>
              </a:spcBef>
              <a:buBlip>
                <a:blip r:embed="rId3"/>
              </a:buBlip>
            </a:pPr>
            <a:r>
              <a:rPr lang="en-US" sz="1600" dirty="0">
                <a:solidFill>
                  <a:srgbClr val="7A6E67"/>
                </a:solidFill>
                <a:latin typeface="ITC Berkeley Oldstyle Medium" charset="0"/>
                <a:ea typeface="ITC Berkeley Oldstyle Medium" charset="0"/>
                <a:cs typeface="ITC Berkeley Oldstyle Medium" charset="0"/>
              </a:rPr>
              <a:t>Quantile GP</a:t>
            </a:r>
          </a:p>
          <a:p>
            <a:pPr marL="285750" indent="-285750">
              <a:lnSpc>
                <a:spcPct val="150000"/>
              </a:lnSpc>
              <a:spcBef>
                <a:spcPts val="0"/>
              </a:spcBef>
              <a:buBlip>
                <a:blip r:embed="rId3"/>
              </a:buBlip>
            </a:pPr>
            <a:r>
              <a:rPr lang="en-US" sz="1600" dirty="0">
                <a:solidFill>
                  <a:srgbClr val="7A6E67"/>
                </a:solidFill>
                <a:latin typeface="ITC Berkeley Oldstyle Medium" charset="0"/>
                <a:ea typeface="ITC Berkeley Oldstyle Medium" charset="0"/>
                <a:cs typeface="ITC Berkeley Oldstyle Medium" charset="0"/>
              </a:rPr>
              <a:t>Bayesian Stacking</a:t>
            </a:r>
          </a:p>
        </p:txBody>
      </p:sp>
      <p:sp>
        <p:nvSpPr>
          <p:cNvPr id="12" name="TextBox 11">
            <a:extLst>
              <a:ext uri="{FF2B5EF4-FFF2-40B4-BE49-F238E27FC236}">
                <a16:creationId xmlns:a16="http://schemas.microsoft.com/office/drawing/2014/main" id="{51E2CA0B-920E-A661-6675-3F0C477D6E48}"/>
              </a:ext>
            </a:extLst>
          </p:cNvPr>
          <p:cNvSpPr txBox="1"/>
          <p:nvPr/>
        </p:nvSpPr>
        <p:spPr>
          <a:xfrm>
            <a:off x="6781799" y="285750"/>
            <a:ext cx="2921091" cy="430887"/>
          </a:xfrm>
          <a:prstGeom prst="rect">
            <a:avLst/>
          </a:prstGeom>
          <a:solidFill>
            <a:schemeClr val="bg1"/>
          </a:solidFill>
        </p:spPr>
        <p:txBody>
          <a:bodyPr wrap="square" rtlCol="0">
            <a:spAutoFit/>
          </a:bodyPr>
          <a:lstStyle/>
          <a:p>
            <a:r>
              <a:rPr lang="en-US" sz="2200" b="1" dirty="0">
                <a:solidFill>
                  <a:srgbClr val="C8102E"/>
                </a:solidFill>
                <a:latin typeface="Univers 75 Black" charset="0"/>
                <a:ea typeface="Univers 75 Black" charset="0"/>
                <a:cs typeface="Univers 75 Black" charset="0"/>
              </a:rPr>
              <a:t>Outline</a:t>
            </a:r>
            <a:endParaRPr lang="en-US" sz="2200" dirty="0">
              <a:solidFill>
                <a:srgbClr val="C8102E"/>
              </a:solidFill>
            </a:endParaRPr>
          </a:p>
        </p:txBody>
      </p:sp>
      <p:cxnSp>
        <p:nvCxnSpPr>
          <p:cNvPr id="13" name="Straight Connector 12">
            <a:extLst>
              <a:ext uri="{FF2B5EF4-FFF2-40B4-BE49-F238E27FC236}">
                <a16:creationId xmlns:a16="http://schemas.microsoft.com/office/drawing/2014/main" id="{06F13FAD-9A9A-EBD0-0A78-440E8E7830B9}"/>
              </a:ext>
            </a:extLst>
          </p:cNvPr>
          <p:cNvCxnSpPr>
            <a:cxnSpLocks/>
          </p:cNvCxnSpPr>
          <p:nvPr/>
        </p:nvCxnSpPr>
        <p:spPr bwMode="auto">
          <a:xfrm>
            <a:off x="6733032" y="802510"/>
            <a:ext cx="2029968"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Tree>
    <p:extLst>
      <p:ext uri="{BB962C8B-B14F-4D97-AF65-F5344CB8AC3E}">
        <p14:creationId xmlns:p14="http://schemas.microsoft.com/office/powerpoint/2010/main" val="2000985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AC58B-E52E-A654-8462-3314E62C1AF3}"/>
            </a:ext>
          </a:extLst>
        </p:cNvPr>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0C774686-0527-16EC-14CE-A47412D7DB8A}"/>
              </a:ext>
            </a:extLst>
          </p:cNvPr>
          <p:cNvCxnSpPr/>
          <p:nvPr/>
        </p:nvCxnSpPr>
        <p:spPr bwMode="auto">
          <a:xfrm>
            <a:off x="685800" y="1123950"/>
            <a:ext cx="76200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
        <p:nvSpPr>
          <p:cNvPr id="20" name="TextBox 19">
            <a:extLst>
              <a:ext uri="{FF2B5EF4-FFF2-40B4-BE49-F238E27FC236}">
                <a16:creationId xmlns:a16="http://schemas.microsoft.com/office/drawing/2014/main" id="{0B7DF3BE-3508-2F84-B288-38B305028514}"/>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CDC Forecasting</a:t>
            </a:r>
            <a:endParaRPr lang="en-US" sz="2200" dirty="0">
              <a:solidFill>
                <a:srgbClr val="C8102E"/>
              </a:solidFill>
            </a:endParaRPr>
          </a:p>
        </p:txBody>
      </p:sp>
      <p:sp>
        <p:nvSpPr>
          <p:cNvPr id="21" name="TextBox 20">
            <a:extLst>
              <a:ext uri="{FF2B5EF4-FFF2-40B4-BE49-F238E27FC236}">
                <a16:creationId xmlns:a16="http://schemas.microsoft.com/office/drawing/2014/main" id="{01CBE24D-4A27-2C7D-EF01-F85A4CF3D8EE}"/>
              </a:ext>
            </a:extLst>
          </p:cNvPr>
          <p:cNvSpPr txBox="1"/>
          <p:nvPr/>
        </p:nvSpPr>
        <p:spPr>
          <a:xfrm>
            <a:off x="604520" y="1159717"/>
            <a:ext cx="7701280" cy="3747436"/>
          </a:xfrm>
          <a:prstGeom prst="rect">
            <a:avLst/>
          </a:prstGeom>
          <a:noFill/>
        </p:spPr>
        <p:txBody>
          <a:bodyPr wrap="square" rtlCol="0">
            <a:spAutoFit/>
          </a:bodyPr>
          <a:lstStyle/>
          <a:p>
            <a:pPr>
              <a:lnSpc>
                <a:spcPct val="150000"/>
              </a:lnSpc>
              <a:spcBef>
                <a:spcPts val="0"/>
              </a:spcBef>
            </a:pPr>
            <a:endParaRPr lang="en-US" sz="1600" dirty="0">
              <a:solidFill>
                <a:srgbClr val="7A6E67"/>
              </a:solidFill>
              <a:latin typeface="ITC Berkeley Oldstyle Medium" charset="0"/>
              <a:ea typeface="ITC Berkeley Oldstyle Medium" charset="0"/>
              <a:cs typeface="ITC Berkeley Oldstyle Medium" charset="0"/>
            </a:endParaRP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hlinkClick r:id="rId3"/>
              </a:rPr>
              <a:t>https://www.cdc.gov/flu-forecasting/data-vis/current-week.html</a:t>
            </a:r>
            <a:endParaRPr lang="en-US" sz="1600" dirty="0">
              <a:solidFill>
                <a:srgbClr val="7A6E67"/>
              </a:solidFill>
              <a:latin typeface="ITC Berkeley Oldstyle Medium" charset="0"/>
              <a:ea typeface="ITC Berkeley Oldstyle Medium" charset="0"/>
              <a:cs typeface="ITC Berkeley Oldstyle Medium" charset="0"/>
            </a:endParaRP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hlinkClick r:id="rId4"/>
              </a:rPr>
              <a:t>https://reichlab.io/flusight-dashboard/</a:t>
            </a:r>
            <a:endParaRPr lang="en-US" sz="1600" dirty="0">
              <a:solidFill>
                <a:srgbClr val="7A6E67"/>
              </a:solidFill>
              <a:latin typeface="ITC Berkeley Oldstyle Medium" charset="0"/>
              <a:ea typeface="ITC Berkeley Oldstyle Medium" charset="0"/>
              <a:cs typeface="ITC Berkeley Oldstyle Medium" charset="0"/>
            </a:endParaRPr>
          </a:p>
          <a:p>
            <a:pPr marL="742950" lvl="1"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hlinkClick r:id="rId5"/>
              </a:rPr>
              <a:t>https://github.com/reichlab/flusight-dashboard</a:t>
            </a:r>
            <a:endParaRPr lang="en-US" sz="1600" dirty="0">
              <a:solidFill>
                <a:srgbClr val="7A6E67"/>
              </a:solidFill>
              <a:latin typeface="ITC Berkeley Oldstyle Medium" charset="0"/>
              <a:ea typeface="ITC Berkeley Oldstyle Medium" charset="0"/>
              <a:cs typeface="ITC Berkeley Oldstyle Medium" charset="0"/>
            </a:endParaRP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hlinkClick r:id="rId6"/>
              </a:rPr>
              <a:t>https://viz.covid19forecasthub.org/</a:t>
            </a:r>
            <a:endParaRPr lang="en-US" sz="1600" dirty="0">
              <a:solidFill>
                <a:srgbClr val="7A6E67"/>
              </a:solidFill>
              <a:latin typeface="ITC Berkeley Oldstyle Medium" charset="0"/>
              <a:ea typeface="ITC Berkeley Oldstyle Medium" charset="0"/>
              <a:cs typeface="ITC Berkeley Oldstyle Medium" charset="0"/>
            </a:endParaRPr>
          </a:p>
          <a:p>
            <a:pPr marL="742950" lvl="1"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hlinkClick r:id="rId7"/>
              </a:rPr>
              <a:t>https://github.com/reichlab/covid19-forecast-hub</a:t>
            </a:r>
            <a:endParaRPr lang="en-US" sz="1600" dirty="0">
              <a:solidFill>
                <a:srgbClr val="7A6E67"/>
              </a:solidFill>
              <a:latin typeface="ITC Berkeley Oldstyle Medium" charset="0"/>
              <a:ea typeface="ITC Berkeley Oldstyle Medium" charset="0"/>
              <a:cs typeface="ITC Berkeley Oldstyle Medium" charset="0"/>
            </a:endParaRP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hlinkClick r:id="rId8"/>
              </a:rPr>
              <a:t>https://zoltardata.com/</a:t>
            </a:r>
            <a:endParaRPr lang="en-US" sz="1600" dirty="0">
              <a:solidFill>
                <a:srgbClr val="7A6E67"/>
              </a:solidFill>
              <a:latin typeface="ITC Berkeley Oldstyle Medium" charset="0"/>
              <a:ea typeface="ITC Berkeley Oldstyle Medium" charset="0"/>
              <a:cs typeface="ITC Berkeley Oldstyle Medium" charset="0"/>
            </a:endParaRPr>
          </a:p>
          <a:p>
            <a:pPr marL="285750" indent="-285750">
              <a:lnSpc>
                <a:spcPct val="150000"/>
              </a:lnSpc>
              <a:spcBef>
                <a:spcPts val="0"/>
              </a:spcBef>
              <a:buBlip>
                <a:blip r:embed="rId2"/>
              </a:buBlip>
            </a:pPr>
            <a:endParaRPr lang="en-US" sz="1600" dirty="0">
              <a:solidFill>
                <a:srgbClr val="7A6E67"/>
              </a:solidFill>
              <a:latin typeface="ITC Berkeley Oldstyle Medium" charset="0"/>
              <a:ea typeface="ITC Berkeley Oldstyle Medium" charset="0"/>
              <a:cs typeface="ITC Berkeley Oldstyle Medium" charset="0"/>
            </a:endParaRPr>
          </a:p>
          <a:p>
            <a:pPr marL="742950" lvl="1" indent="-285750">
              <a:lnSpc>
                <a:spcPct val="150000"/>
              </a:lnSpc>
              <a:spcBef>
                <a:spcPts val="0"/>
              </a:spcBef>
              <a:buBlip>
                <a:blip r:embed="rId2"/>
              </a:buBlip>
            </a:pPr>
            <a:endParaRPr lang="en-US" sz="1600" dirty="0">
              <a:solidFill>
                <a:srgbClr val="7A6E67"/>
              </a:solidFill>
              <a:latin typeface="ITC Berkeley Oldstyle Medium" charset="0"/>
              <a:ea typeface="ITC Berkeley Oldstyle Medium" charset="0"/>
              <a:cs typeface="ITC Berkeley Oldstyle Medium" charset="0"/>
            </a:endParaRPr>
          </a:p>
          <a:p>
            <a:pPr marL="285750" indent="-285750">
              <a:lnSpc>
                <a:spcPct val="150000"/>
              </a:lnSpc>
              <a:spcBef>
                <a:spcPts val="0"/>
              </a:spcBef>
              <a:buBlip>
                <a:blip r:embed="rId2"/>
              </a:buBlip>
            </a:pPr>
            <a:endParaRPr lang="en-US" sz="1600" dirty="0">
              <a:solidFill>
                <a:srgbClr val="7A6E67"/>
              </a:solidFill>
              <a:latin typeface="ITC Berkeley Oldstyle Medium" charset="0"/>
              <a:ea typeface="ITC Berkeley Oldstyle Medium" charset="0"/>
              <a:cs typeface="ITC Berkeley Oldstyle Medium" charset="0"/>
            </a:endParaRPr>
          </a:p>
        </p:txBody>
      </p:sp>
      <p:cxnSp>
        <p:nvCxnSpPr>
          <p:cNvPr id="25" name="Straight Connector 24">
            <a:extLst>
              <a:ext uri="{FF2B5EF4-FFF2-40B4-BE49-F238E27FC236}">
                <a16:creationId xmlns:a16="http://schemas.microsoft.com/office/drawing/2014/main" id="{5F5326C1-9C4C-BCF9-078F-44EAF190F37F}"/>
              </a:ext>
            </a:extLst>
          </p:cNvPr>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Tree>
    <p:extLst>
      <p:ext uri="{BB962C8B-B14F-4D97-AF65-F5344CB8AC3E}">
        <p14:creationId xmlns:p14="http://schemas.microsoft.com/office/powerpoint/2010/main" val="700669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95524-F5A8-598A-DA94-D6B65FBA8CE0}"/>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3503216B-91AA-B830-5ADB-B3E0E38661C2}"/>
              </a:ext>
            </a:extLst>
          </p:cNvPr>
          <p:cNvSpPr txBox="1"/>
          <p:nvPr/>
        </p:nvSpPr>
        <p:spPr>
          <a:xfrm>
            <a:off x="3694814"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Collaborative Manuscripts</a:t>
            </a:r>
            <a:endParaRPr lang="en-US" sz="2200" dirty="0">
              <a:solidFill>
                <a:srgbClr val="C8102E"/>
              </a:solidFill>
            </a:endParaRPr>
          </a:p>
        </p:txBody>
      </p:sp>
      <p:cxnSp>
        <p:nvCxnSpPr>
          <p:cNvPr id="13" name="Straight Connector 12">
            <a:extLst>
              <a:ext uri="{FF2B5EF4-FFF2-40B4-BE49-F238E27FC236}">
                <a16:creationId xmlns:a16="http://schemas.microsoft.com/office/drawing/2014/main" id="{E779EF47-E2D3-F2A3-0461-E569F7EE9890}"/>
              </a:ext>
            </a:extLst>
          </p:cNvPr>
          <p:cNvCxnSpPr/>
          <p:nvPr/>
        </p:nvCxnSpPr>
        <p:spPr bwMode="auto">
          <a:xfrm>
            <a:off x="3776094" y="1123950"/>
            <a:ext cx="4377306"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
        <p:nvSpPr>
          <p:cNvPr id="15" name="TextBox 14">
            <a:extLst>
              <a:ext uri="{FF2B5EF4-FFF2-40B4-BE49-F238E27FC236}">
                <a16:creationId xmlns:a16="http://schemas.microsoft.com/office/drawing/2014/main" id="{CFC8674C-F359-239D-BEEC-451E3AF30D73}"/>
              </a:ext>
            </a:extLst>
          </p:cNvPr>
          <p:cNvSpPr txBox="1"/>
          <p:nvPr/>
        </p:nvSpPr>
        <p:spPr>
          <a:xfrm>
            <a:off x="3694814" y="1383090"/>
            <a:ext cx="4763386" cy="792781"/>
          </a:xfrm>
          <a:prstGeom prst="rect">
            <a:avLst/>
          </a:prstGeom>
          <a:noFill/>
        </p:spPr>
        <p:txBody>
          <a:bodyPr wrap="square" rtlCol="0">
            <a:spAutoFit/>
          </a:bodyPr>
          <a:lstStyle/>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hlinkClick r:id="rId2"/>
              </a:rPr>
              <a:t>https://www.pnas.org/doi/10.1073/pnas.2113561119</a:t>
            </a:r>
            <a:endParaRPr lang="en-US" sz="1600" dirty="0">
              <a:solidFill>
                <a:srgbClr val="7A6E67"/>
              </a:solidFill>
              <a:latin typeface="ITC Berkeley Oldstyle Medium" charset="0"/>
              <a:ea typeface="ITC Berkeley Oldstyle Medium" charset="0"/>
              <a:cs typeface="ITC Berkeley Oldstyle Medium" charset="0"/>
            </a:endParaRPr>
          </a:p>
          <a:p>
            <a:pPr>
              <a:lnSpc>
                <a:spcPct val="150000"/>
              </a:lnSpc>
              <a:spcBef>
                <a:spcPts val="0"/>
              </a:spcBef>
            </a:pPr>
            <a:endParaRPr lang="en-US" sz="1600" dirty="0">
              <a:solidFill>
                <a:srgbClr val="7A6E67"/>
              </a:solidFill>
              <a:latin typeface="ITC Berkeley Oldstyle Medium" charset="0"/>
              <a:ea typeface="ITC Berkeley Oldstyle Medium" charset="0"/>
              <a:cs typeface="ITC Berkeley Oldstyle Medium" charset="0"/>
            </a:endParaRPr>
          </a:p>
        </p:txBody>
      </p:sp>
      <p:cxnSp>
        <p:nvCxnSpPr>
          <p:cNvPr id="24" name="Straight Connector 23">
            <a:extLst>
              <a:ext uri="{FF2B5EF4-FFF2-40B4-BE49-F238E27FC236}">
                <a16:creationId xmlns:a16="http://schemas.microsoft.com/office/drawing/2014/main" id="{3AAA422E-3801-4177-098E-5497E84004A4}"/>
              </a:ext>
            </a:extLst>
          </p:cNvPr>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2" name="Rectangle 1">
            <a:extLst>
              <a:ext uri="{FF2B5EF4-FFF2-40B4-BE49-F238E27FC236}">
                <a16:creationId xmlns:a16="http://schemas.microsoft.com/office/drawing/2014/main" id="{BE2B3D66-0B7E-E1F5-6176-068D1C60196A}"/>
              </a:ext>
            </a:extLst>
          </p:cNvPr>
          <p:cNvSpPr/>
          <p:nvPr/>
        </p:nvSpPr>
        <p:spPr bwMode="auto">
          <a:xfrm>
            <a:off x="0" y="0"/>
            <a:ext cx="3090672" cy="4636008"/>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pic>
        <p:nvPicPr>
          <p:cNvPr id="4" name="Picture 3" descr="A screenshot of a web page&#10;&#10;AI-generated content may be incorrect.">
            <a:extLst>
              <a:ext uri="{FF2B5EF4-FFF2-40B4-BE49-F238E27FC236}">
                <a16:creationId xmlns:a16="http://schemas.microsoft.com/office/drawing/2014/main" id="{3DA5082B-C675-5D76-BBA6-E5262EBA7017}"/>
              </a:ext>
            </a:extLst>
          </p:cNvPr>
          <p:cNvPicPr>
            <a:picLocks noChangeAspect="1"/>
          </p:cNvPicPr>
          <p:nvPr/>
        </p:nvPicPr>
        <p:blipFill>
          <a:blip r:embed="rId3"/>
          <a:stretch>
            <a:fillRect/>
          </a:stretch>
        </p:blipFill>
        <p:spPr>
          <a:xfrm>
            <a:off x="131873" y="54798"/>
            <a:ext cx="2839927" cy="257175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027799AC-2CE3-6BF5-3BA0-EBCCF55FAA17}"/>
              </a:ext>
            </a:extLst>
          </p:cNvPr>
          <p:cNvPicPr>
            <a:picLocks noChangeAspect="1"/>
          </p:cNvPicPr>
          <p:nvPr/>
        </p:nvPicPr>
        <p:blipFill>
          <a:blip r:embed="rId4"/>
          <a:stretch>
            <a:fillRect/>
          </a:stretch>
        </p:blipFill>
        <p:spPr>
          <a:xfrm>
            <a:off x="131872" y="2626547"/>
            <a:ext cx="2839927" cy="2002603"/>
          </a:xfrm>
          <a:prstGeom prst="rect">
            <a:avLst/>
          </a:prstGeom>
        </p:spPr>
      </p:pic>
      <p:sp>
        <p:nvSpPr>
          <p:cNvPr id="3" name="Oval 2">
            <a:extLst>
              <a:ext uri="{FF2B5EF4-FFF2-40B4-BE49-F238E27FC236}">
                <a16:creationId xmlns:a16="http://schemas.microsoft.com/office/drawing/2014/main" id="{7CB5D608-3784-D8CD-DCDA-8B9B42999A1C}"/>
              </a:ext>
            </a:extLst>
          </p:cNvPr>
          <p:cNvSpPr/>
          <p:nvPr/>
        </p:nvSpPr>
        <p:spPr bwMode="auto">
          <a:xfrm>
            <a:off x="914400" y="819150"/>
            <a:ext cx="457200" cy="152400"/>
          </a:xfrm>
          <a:prstGeom prst="ellipse">
            <a:avLst/>
          </a:prstGeom>
          <a:noFill/>
          <a:ln w="9525"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5" name="Oval 4">
            <a:extLst>
              <a:ext uri="{FF2B5EF4-FFF2-40B4-BE49-F238E27FC236}">
                <a16:creationId xmlns:a16="http://schemas.microsoft.com/office/drawing/2014/main" id="{40288081-F791-2A77-9B7F-0ADD0C41336C}"/>
              </a:ext>
            </a:extLst>
          </p:cNvPr>
          <p:cNvSpPr/>
          <p:nvPr/>
        </p:nvSpPr>
        <p:spPr bwMode="auto">
          <a:xfrm>
            <a:off x="644912" y="4248150"/>
            <a:ext cx="457200" cy="152400"/>
          </a:xfrm>
          <a:prstGeom prst="ellipse">
            <a:avLst/>
          </a:prstGeom>
          <a:noFill/>
          <a:ln w="9525"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Tree>
    <p:extLst>
      <p:ext uri="{BB962C8B-B14F-4D97-AF65-F5344CB8AC3E}">
        <p14:creationId xmlns:p14="http://schemas.microsoft.com/office/powerpoint/2010/main" val="2624183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Influenza-like Illness (ILI) %</a:t>
            </a:r>
            <a:endParaRPr lang="en-US" sz="2200" dirty="0">
              <a:solidFill>
                <a:srgbClr val="C8102E"/>
              </a:solidFill>
            </a:endParaRPr>
          </a:p>
        </p:txBody>
      </p:sp>
      <p:cxnSp>
        <p:nvCxnSpPr>
          <p:cNvPr id="12" name="Straight Connector 11"/>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graph of a number of days&#10;&#10;AI-generated content may be incorrect.">
            <a:extLst>
              <a:ext uri="{FF2B5EF4-FFF2-40B4-BE49-F238E27FC236}">
                <a16:creationId xmlns:a16="http://schemas.microsoft.com/office/drawing/2014/main" id="{D2EA10E0-F17F-6D2A-9A51-D4E8E79C51F3}"/>
              </a:ext>
            </a:extLst>
          </p:cNvPr>
          <p:cNvPicPr>
            <a:picLocks noChangeAspect="1"/>
          </p:cNvPicPr>
          <p:nvPr/>
        </p:nvPicPr>
        <p:blipFill>
          <a:blip r:embed="rId3"/>
          <a:stretch>
            <a:fillRect/>
          </a:stretch>
        </p:blipFill>
        <p:spPr>
          <a:xfrm>
            <a:off x="76200" y="1233905"/>
            <a:ext cx="4031179" cy="3174999"/>
          </a:xfrm>
          <a:prstGeom prst="rect">
            <a:avLst/>
          </a:prstGeom>
        </p:spPr>
      </p:pic>
      <p:pic>
        <p:nvPicPr>
          <p:cNvPr id="5" name="Picture 4" descr="A graph of different states&#10;&#10;AI-generated content may be incorrect.">
            <a:extLst>
              <a:ext uri="{FF2B5EF4-FFF2-40B4-BE49-F238E27FC236}">
                <a16:creationId xmlns:a16="http://schemas.microsoft.com/office/drawing/2014/main" id="{369E1D73-8240-9CC2-F2EB-0F5118BD892F}"/>
              </a:ext>
            </a:extLst>
          </p:cNvPr>
          <p:cNvPicPr>
            <a:picLocks noChangeAspect="1"/>
          </p:cNvPicPr>
          <p:nvPr/>
        </p:nvPicPr>
        <p:blipFill>
          <a:blip r:embed="rId4"/>
          <a:stretch>
            <a:fillRect/>
          </a:stretch>
        </p:blipFill>
        <p:spPr>
          <a:xfrm>
            <a:off x="4419600" y="1251803"/>
            <a:ext cx="4648200" cy="2691547"/>
          </a:xfrm>
          <a:prstGeom prst="rect">
            <a:avLst/>
          </a:prstGeom>
        </p:spPr>
      </p:pic>
    </p:spTree>
    <p:extLst>
      <p:ext uri="{BB962C8B-B14F-4D97-AF65-F5344CB8AC3E}">
        <p14:creationId xmlns:p14="http://schemas.microsoft.com/office/powerpoint/2010/main" val="593002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C4D6-D027-590B-9D9D-85DF9160BE6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617FDFA-735B-6A6E-4FD1-7CC661195976}"/>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Influenza Hospitalizations</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B5664E46-D10C-9547-4D4A-711188C0E4AD}"/>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7" name="Picture 6" descr="A graph of different states&#10;&#10;AI-generated content may be incorrect.">
            <a:extLst>
              <a:ext uri="{FF2B5EF4-FFF2-40B4-BE49-F238E27FC236}">
                <a16:creationId xmlns:a16="http://schemas.microsoft.com/office/drawing/2014/main" id="{34D5AB78-7BC5-FC54-F957-7C23499A7CD7}"/>
              </a:ext>
            </a:extLst>
          </p:cNvPr>
          <p:cNvPicPr>
            <a:picLocks noChangeAspect="1"/>
          </p:cNvPicPr>
          <p:nvPr/>
        </p:nvPicPr>
        <p:blipFill>
          <a:blip r:embed="rId3"/>
          <a:stretch>
            <a:fillRect/>
          </a:stretch>
        </p:blipFill>
        <p:spPr>
          <a:xfrm>
            <a:off x="457200" y="1263622"/>
            <a:ext cx="5638800" cy="3330379"/>
          </a:xfrm>
          <a:prstGeom prst="rect">
            <a:avLst/>
          </a:prstGeom>
        </p:spPr>
      </p:pic>
    </p:spTree>
    <p:extLst>
      <p:ext uri="{BB962C8B-B14F-4D97-AF65-F5344CB8AC3E}">
        <p14:creationId xmlns:p14="http://schemas.microsoft.com/office/powerpoint/2010/main" val="325263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DD77B6-B6E3-0D51-AA6E-B2F8C998C0C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8179738-B326-681C-0E23-C7D92F5F2FD1}"/>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ILI % v Hospitalizations</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248E3FC3-9C96-E022-AB2A-6536BEADC3E1}"/>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graph of different numbers&#10;&#10;AI-generated content may be incorrect.">
            <a:extLst>
              <a:ext uri="{FF2B5EF4-FFF2-40B4-BE49-F238E27FC236}">
                <a16:creationId xmlns:a16="http://schemas.microsoft.com/office/drawing/2014/main" id="{32CCDC83-A103-3CE9-97E4-55EB0C4F008C}"/>
              </a:ext>
            </a:extLst>
          </p:cNvPr>
          <p:cNvPicPr>
            <a:picLocks noChangeAspect="1"/>
          </p:cNvPicPr>
          <p:nvPr/>
        </p:nvPicPr>
        <p:blipFill>
          <a:blip r:embed="rId3"/>
          <a:stretch>
            <a:fillRect/>
          </a:stretch>
        </p:blipFill>
        <p:spPr>
          <a:xfrm>
            <a:off x="697992" y="1233905"/>
            <a:ext cx="5473700" cy="3124200"/>
          </a:xfrm>
          <a:prstGeom prst="rect">
            <a:avLst/>
          </a:prstGeom>
        </p:spPr>
      </p:pic>
    </p:spTree>
    <p:extLst>
      <p:ext uri="{BB962C8B-B14F-4D97-AF65-F5344CB8AC3E}">
        <p14:creationId xmlns:p14="http://schemas.microsoft.com/office/powerpoint/2010/main" val="3973850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B9A36-69FC-26E0-F997-E3EDABAD556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DA7B3A5-99C3-8777-4515-9B94B1810205}"/>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rPr>
              <a:t>Modeling ILI % - Asymmetric Gaussian</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F0627557-5AAC-730D-E917-C06412741DA2}"/>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4" name="Picture 3" descr="A graph with lines and symbols&#10;&#10;AI-generated content may be incorrect.">
            <a:extLst>
              <a:ext uri="{FF2B5EF4-FFF2-40B4-BE49-F238E27FC236}">
                <a16:creationId xmlns:a16="http://schemas.microsoft.com/office/drawing/2014/main" id="{7F6CFD8B-8B34-31D9-24C5-AECC06BDC15A}"/>
              </a:ext>
            </a:extLst>
          </p:cNvPr>
          <p:cNvPicPr>
            <a:picLocks noChangeAspect="1"/>
          </p:cNvPicPr>
          <p:nvPr/>
        </p:nvPicPr>
        <p:blipFill>
          <a:blip r:embed="rId3"/>
          <a:stretch>
            <a:fillRect/>
          </a:stretch>
        </p:blipFill>
        <p:spPr>
          <a:xfrm>
            <a:off x="6926" y="1291969"/>
            <a:ext cx="4219283" cy="2803781"/>
          </a:xfrm>
          <a:prstGeom prst="rect">
            <a:avLst/>
          </a:prstGeom>
        </p:spPr>
      </p:pic>
      <p:pic>
        <p:nvPicPr>
          <p:cNvPr id="2" name="Picture 1" descr="A graph of a graph of a number of days&#10;&#10;AI-generated content may be incorrect.">
            <a:extLst>
              <a:ext uri="{FF2B5EF4-FFF2-40B4-BE49-F238E27FC236}">
                <a16:creationId xmlns:a16="http://schemas.microsoft.com/office/drawing/2014/main" id="{07CFF30F-0CB7-AE69-84B5-85269F48E2D9}"/>
              </a:ext>
            </a:extLst>
          </p:cNvPr>
          <p:cNvPicPr>
            <a:picLocks noChangeAspect="1"/>
          </p:cNvPicPr>
          <p:nvPr/>
        </p:nvPicPr>
        <p:blipFill>
          <a:blip r:embed="rId4"/>
          <a:stretch>
            <a:fillRect/>
          </a:stretch>
        </p:blipFill>
        <p:spPr>
          <a:xfrm>
            <a:off x="4381500" y="1215753"/>
            <a:ext cx="4686300" cy="3149600"/>
          </a:xfrm>
          <a:prstGeom prst="rect">
            <a:avLst/>
          </a:prstGeom>
        </p:spPr>
      </p:pic>
    </p:spTree>
    <p:extLst>
      <p:ext uri="{BB962C8B-B14F-4D97-AF65-F5344CB8AC3E}">
        <p14:creationId xmlns:p14="http://schemas.microsoft.com/office/powerpoint/2010/main" val="2475811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BC4C8-E3A7-6D6C-D47A-0364E215EB7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C8D18DC-82CA-FFDA-C1C5-3570E01FF2CE}"/>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Hierarchical Bayesian Model</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A20C9B8F-290D-4415-036D-3CC560FA0EC2}"/>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4" name="Picture 3" descr="A close-up of math symbols&#10;&#10;AI-generated content may be incorrect.">
            <a:extLst>
              <a:ext uri="{FF2B5EF4-FFF2-40B4-BE49-F238E27FC236}">
                <a16:creationId xmlns:a16="http://schemas.microsoft.com/office/drawing/2014/main" id="{526E2F02-C27E-3CAD-A107-9F80EB185311}"/>
              </a:ext>
            </a:extLst>
          </p:cNvPr>
          <p:cNvPicPr>
            <a:picLocks noChangeAspect="1"/>
          </p:cNvPicPr>
          <p:nvPr/>
        </p:nvPicPr>
        <p:blipFill>
          <a:blip r:embed="rId3"/>
          <a:stretch>
            <a:fillRect/>
          </a:stretch>
        </p:blipFill>
        <p:spPr>
          <a:xfrm>
            <a:off x="685800" y="1504950"/>
            <a:ext cx="2717800" cy="698500"/>
          </a:xfrm>
          <a:prstGeom prst="rect">
            <a:avLst/>
          </a:prstGeom>
        </p:spPr>
      </p:pic>
      <p:pic>
        <p:nvPicPr>
          <p:cNvPr id="6" name="Picture 5" descr="A group of black text&#10;&#10;AI-generated content may be incorrect.">
            <a:extLst>
              <a:ext uri="{FF2B5EF4-FFF2-40B4-BE49-F238E27FC236}">
                <a16:creationId xmlns:a16="http://schemas.microsoft.com/office/drawing/2014/main" id="{2D195F3B-2D92-F6FB-D14D-8BB4085FAD25}"/>
              </a:ext>
            </a:extLst>
          </p:cNvPr>
          <p:cNvPicPr>
            <a:picLocks noChangeAspect="1"/>
          </p:cNvPicPr>
          <p:nvPr/>
        </p:nvPicPr>
        <p:blipFill>
          <a:blip r:embed="rId4"/>
          <a:stretch>
            <a:fillRect/>
          </a:stretch>
        </p:blipFill>
        <p:spPr>
          <a:xfrm>
            <a:off x="670560" y="2343150"/>
            <a:ext cx="3517900" cy="939800"/>
          </a:xfrm>
          <a:prstGeom prst="rect">
            <a:avLst/>
          </a:prstGeom>
        </p:spPr>
      </p:pic>
      <p:pic>
        <p:nvPicPr>
          <p:cNvPr id="8" name="Picture 7" descr="A group of black symbols&#10;&#10;AI-generated content may be incorrect.">
            <a:extLst>
              <a:ext uri="{FF2B5EF4-FFF2-40B4-BE49-F238E27FC236}">
                <a16:creationId xmlns:a16="http://schemas.microsoft.com/office/drawing/2014/main" id="{E65AD6DB-B72E-6E7F-7C40-F92A91A8AF6E}"/>
              </a:ext>
            </a:extLst>
          </p:cNvPr>
          <p:cNvPicPr>
            <a:picLocks noChangeAspect="1"/>
          </p:cNvPicPr>
          <p:nvPr/>
        </p:nvPicPr>
        <p:blipFill>
          <a:blip r:embed="rId5"/>
          <a:stretch>
            <a:fillRect/>
          </a:stretch>
        </p:blipFill>
        <p:spPr>
          <a:xfrm>
            <a:off x="4508500" y="1873250"/>
            <a:ext cx="3111500" cy="317500"/>
          </a:xfrm>
          <a:prstGeom prst="rect">
            <a:avLst/>
          </a:prstGeom>
        </p:spPr>
      </p:pic>
      <p:pic>
        <p:nvPicPr>
          <p:cNvPr id="10" name="Picture 9">
            <a:extLst>
              <a:ext uri="{FF2B5EF4-FFF2-40B4-BE49-F238E27FC236}">
                <a16:creationId xmlns:a16="http://schemas.microsoft.com/office/drawing/2014/main" id="{1CFF3C8E-5F2E-282E-EE05-B29C572CF380}"/>
              </a:ext>
            </a:extLst>
          </p:cNvPr>
          <p:cNvPicPr>
            <a:picLocks noChangeAspect="1"/>
          </p:cNvPicPr>
          <p:nvPr/>
        </p:nvPicPr>
        <p:blipFill>
          <a:blip r:embed="rId6"/>
          <a:stretch>
            <a:fillRect/>
          </a:stretch>
        </p:blipFill>
        <p:spPr>
          <a:xfrm>
            <a:off x="4937254" y="2647950"/>
            <a:ext cx="1181100" cy="304800"/>
          </a:xfrm>
          <a:prstGeom prst="rect">
            <a:avLst/>
          </a:prstGeom>
        </p:spPr>
      </p:pic>
      <p:pic>
        <p:nvPicPr>
          <p:cNvPr id="14" name="Picture 13" descr="A math equations on a white background&#10;&#10;AI-generated content may be incorrect.">
            <a:extLst>
              <a:ext uri="{FF2B5EF4-FFF2-40B4-BE49-F238E27FC236}">
                <a16:creationId xmlns:a16="http://schemas.microsoft.com/office/drawing/2014/main" id="{84ACCB83-77BD-6657-EAF6-173DA64A17A9}"/>
              </a:ext>
            </a:extLst>
          </p:cNvPr>
          <p:cNvPicPr>
            <a:picLocks noChangeAspect="1"/>
          </p:cNvPicPr>
          <p:nvPr/>
        </p:nvPicPr>
        <p:blipFill>
          <a:blip r:embed="rId7"/>
          <a:stretch>
            <a:fillRect/>
          </a:stretch>
        </p:blipFill>
        <p:spPr>
          <a:xfrm>
            <a:off x="3962400" y="3833113"/>
            <a:ext cx="4749800" cy="647700"/>
          </a:xfrm>
          <a:prstGeom prst="rect">
            <a:avLst/>
          </a:prstGeom>
        </p:spPr>
      </p:pic>
      <p:sp>
        <p:nvSpPr>
          <p:cNvPr id="15" name="TextBox 14">
            <a:extLst>
              <a:ext uri="{FF2B5EF4-FFF2-40B4-BE49-F238E27FC236}">
                <a16:creationId xmlns:a16="http://schemas.microsoft.com/office/drawing/2014/main" id="{EB0F4A9C-A25B-B377-DB65-9F28BD68D36D}"/>
              </a:ext>
            </a:extLst>
          </p:cNvPr>
          <p:cNvSpPr txBox="1"/>
          <p:nvPr/>
        </p:nvSpPr>
        <p:spPr>
          <a:xfrm>
            <a:off x="640080" y="1160272"/>
            <a:ext cx="521297" cy="338554"/>
          </a:xfrm>
          <a:prstGeom prst="rect">
            <a:avLst/>
          </a:prstGeom>
          <a:noFill/>
        </p:spPr>
        <p:txBody>
          <a:bodyPr wrap="none" rtlCol="0">
            <a:spAutoFit/>
          </a:bodyPr>
          <a:lstStyle/>
          <a:p>
            <a:r>
              <a:rPr lang="en-US" sz="1600" dirty="0">
                <a:solidFill>
                  <a:srgbClr val="C8102E"/>
                </a:solidFill>
                <a:latin typeface="+mn-lt"/>
              </a:rPr>
              <a:t>ILI%</a:t>
            </a:r>
          </a:p>
        </p:txBody>
      </p:sp>
      <p:sp>
        <p:nvSpPr>
          <p:cNvPr id="16" name="TextBox 15">
            <a:extLst>
              <a:ext uri="{FF2B5EF4-FFF2-40B4-BE49-F238E27FC236}">
                <a16:creationId xmlns:a16="http://schemas.microsoft.com/office/drawing/2014/main" id="{EF14B4D1-8114-865C-7B9D-802C507B461D}"/>
              </a:ext>
            </a:extLst>
          </p:cNvPr>
          <p:cNvSpPr txBox="1"/>
          <p:nvPr/>
        </p:nvSpPr>
        <p:spPr>
          <a:xfrm>
            <a:off x="3886200" y="3484371"/>
            <a:ext cx="1499321" cy="338554"/>
          </a:xfrm>
          <a:prstGeom prst="rect">
            <a:avLst/>
          </a:prstGeom>
          <a:noFill/>
        </p:spPr>
        <p:txBody>
          <a:bodyPr wrap="none" rtlCol="0">
            <a:spAutoFit/>
          </a:bodyPr>
          <a:lstStyle/>
          <a:p>
            <a:r>
              <a:rPr lang="en-US" sz="1600" dirty="0">
                <a:solidFill>
                  <a:srgbClr val="C8102E"/>
                </a:solidFill>
                <a:latin typeface="+mn-lt"/>
              </a:rPr>
              <a:t>Hospitalizations</a:t>
            </a:r>
          </a:p>
        </p:txBody>
      </p:sp>
      <p:cxnSp>
        <p:nvCxnSpPr>
          <p:cNvPr id="18" name="Straight Arrow Connector 17">
            <a:extLst>
              <a:ext uri="{FF2B5EF4-FFF2-40B4-BE49-F238E27FC236}">
                <a16:creationId xmlns:a16="http://schemas.microsoft.com/office/drawing/2014/main" id="{153C782C-A9A2-63BF-99D4-79B81C19E0B1}"/>
              </a:ext>
            </a:extLst>
          </p:cNvPr>
          <p:cNvCxnSpPr/>
          <p:nvPr/>
        </p:nvCxnSpPr>
        <p:spPr bwMode="auto">
          <a:xfrm>
            <a:off x="2743200" y="2032000"/>
            <a:ext cx="1676400" cy="0"/>
          </a:xfrm>
          <a:prstGeom prst="straightConnector1">
            <a:avLst/>
          </a:prstGeom>
          <a:solidFill>
            <a:schemeClr val="accent1"/>
          </a:solidFill>
          <a:ln w="9525" cap="flat" cmpd="sng" algn="ctr">
            <a:solidFill>
              <a:srgbClr val="F1BE48"/>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2CB3EC84-241F-D50E-47C1-A92382074784}"/>
              </a:ext>
            </a:extLst>
          </p:cNvPr>
          <p:cNvCxnSpPr>
            <a:cxnSpLocks/>
          </p:cNvCxnSpPr>
          <p:nvPr/>
        </p:nvCxnSpPr>
        <p:spPr bwMode="auto">
          <a:xfrm>
            <a:off x="1908048" y="2190750"/>
            <a:ext cx="0" cy="304800"/>
          </a:xfrm>
          <a:prstGeom prst="straightConnector1">
            <a:avLst/>
          </a:prstGeom>
          <a:solidFill>
            <a:schemeClr val="accent1"/>
          </a:solidFill>
          <a:ln w="9525" cap="flat" cmpd="sng" algn="ctr">
            <a:solidFill>
              <a:srgbClr val="F1BE48"/>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35250E41-AE66-A478-9467-B94392D3389D}"/>
              </a:ext>
            </a:extLst>
          </p:cNvPr>
          <p:cNvCxnSpPr>
            <a:cxnSpLocks/>
          </p:cNvCxnSpPr>
          <p:nvPr/>
        </p:nvCxnSpPr>
        <p:spPr bwMode="auto">
          <a:xfrm>
            <a:off x="4203044" y="2813050"/>
            <a:ext cx="597556" cy="0"/>
          </a:xfrm>
          <a:prstGeom prst="straightConnector1">
            <a:avLst/>
          </a:prstGeom>
          <a:solidFill>
            <a:schemeClr val="accent1"/>
          </a:solidFill>
          <a:ln w="9525" cap="flat" cmpd="sng" algn="ctr">
            <a:solidFill>
              <a:srgbClr val="F1BE48"/>
            </a:solidFill>
            <a:prstDash val="solid"/>
            <a:round/>
            <a:headEnd type="none" w="med" len="med"/>
            <a:tailEnd type="triangle"/>
          </a:ln>
          <a:effectLst/>
        </p:spPr>
      </p:cxnSp>
    </p:spTree>
    <p:extLst>
      <p:ext uri="{BB962C8B-B14F-4D97-AF65-F5344CB8AC3E}">
        <p14:creationId xmlns:p14="http://schemas.microsoft.com/office/powerpoint/2010/main" val="3223888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AD05914-140D-78C1-A3CA-82CF1E738F5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AB59FE0-B75A-CF69-2E37-E080498BD6F0}"/>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Bayesian Model Performance</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5468267D-DC4F-5D1D-EC10-8444F74FF881}"/>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4" name="Picture 3" descr="A graph of a number of numbers&#10;&#10;AI-generated content may be incorrect.">
            <a:extLst>
              <a:ext uri="{FF2B5EF4-FFF2-40B4-BE49-F238E27FC236}">
                <a16:creationId xmlns:a16="http://schemas.microsoft.com/office/drawing/2014/main" id="{F4A3A8DB-C712-D567-6123-D3F947AC6B7D}"/>
              </a:ext>
            </a:extLst>
          </p:cNvPr>
          <p:cNvPicPr>
            <a:picLocks noChangeAspect="1"/>
          </p:cNvPicPr>
          <p:nvPr/>
        </p:nvPicPr>
        <p:blipFill>
          <a:blip r:embed="rId3"/>
          <a:stretch>
            <a:fillRect/>
          </a:stretch>
        </p:blipFill>
        <p:spPr>
          <a:xfrm>
            <a:off x="583184" y="1239239"/>
            <a:ext cx="4521200" cy="3352800"/>
          </a:xfrm>
          <a:prstGeom prst="rect">
            <a:avLst/>
          </a:prstGeom>
        </p:spPr>
      </p:pic>
    </p:spTree>
    <p:extLst>
      <p:ext uri="{BB962C8B-B14F-4D97-AF65-F5344CB8AC3E}">
        <p14:creationId xmlns:p14="http://schemas.microsoft.com/office/powerpoint/2010/main" val="3151357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F3300-23BA-61E0-BA2D-5A177255BE4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6FF47F2-A73A-CCB1-0327-9092AAD07FC3}"/>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Model Performance</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F3B5550E-181D-9A9C-1460-775302768AFB}"/>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graph of different types of graphs&#10;&#10;AI-generated content may be incorrect.">
            <a:extLst>
              <a:ext uri="{FF2B5EF4-FFF2-40B4-BE49-F238E27FC236}">
                <a16:creationId xmlns:a16="http://schemas.microsoft.com/office/drawing/2014/main" id="{1CDFEAFA-0776-BE27-15F0-A3832E25E7FF}"/>
              </a:ext>
            </a:extLst>
          </p:cNvPr>
          <p:cNvPicPr>
            <a:picLocks noChangeAspect="1"/>
          </p:cNvPicPr>
          <p:nvPr/>
        </p:nvPicPr>
        <p:blipFill>
          <a:blip r:embed="rId3"/>
          <a:stretch>
            <a:fillRect/>
          </a:stretch>
        </p:blipFill>
        <p:spPr>
          <a:xfrm>
            <a:off x="397291" y="1530363"/>
            <a:ext cx="7806909" cy="2870187"/>
          </a:xfrm>
          <a:prstGeom prst="rect">
            <a:avLst/>
          </a:prstGeom>
        </p:spPr>
      </p:pic>
      <p:sp>
        <p:nvSpPr>
          <p:cNvPr id="5" name="TextBox 4">
            <a:extLst>
              <a:ext uri="{FF2B5EF4-FFF2-40B4-BE49-F238E27FC236}">
                <a16:creationId xmlns:a16="http://schemas.microsoft.com/office/drawing/2014/main" id="{A236CD68-21C3-FA85-5E65-BFB5994C0620}"/>
              </a:ext>
            </a:extLst>
          </p:cNvPr>
          <p:cNvSpPr txBox="1"/>
          <p:nvPr/>
        </p:nvSpPr>
        <p:spPr>
          <a:xfrm>
            <a:off x="750173" y="1318796"/>
            <a:ext cx="697627" cy="338554"/>
          </a:xfrm>
          <a:prstGeom prst="rect">
            <a:avLst/>
          </a:prstGeom>
          <a:noFill/>
        </p:spPr>
        <p:txBody>
          <a:bodyPr wrap="none" rtlCol="0">
            <a:spAutoFit/>
          </a:bodyPr>
          <a:lstStyle/>
          <a:p>
            <a:r>
              <a:rPr lang="en-US" sz="1600" dirty="0">
                <a:solidFill>
                  <a:srgbClr val="C8102E"/>
                </a:solidFill>
                <a:latin typeface="+mn-lt"/>
              </a:rPr>
              <a:t>Linear</a:t>
            </a:r>
          </a:p>
        </p:txBody>
      </p:sp>
      <p:sp>
        <p:nvSpPr>
          <p:cNvPr id="6" name="TextBox 5">
            <a:extLst>
              <a:ext uri="{FF2B5EF4-FFF2-40B4-BE49-F238E27FC236}">
                <a16:creationId xmlns:a16="http://schemas.microsoft.com/office/drawing/2014/main" id="{315CDD84-78B6-C458-E982-ED35710D7D37}"/>
              </a:ext>
            </a:extLst>
          </p:cNvPr>
          <p:cNvSpPr txBox="1"/>
          <p:nvPr/>
        </p:nvSpPr>
        <p:spPr>
          <a:xfrm>
            <a:off x="4572000" y="1301755"/>
            <a:ext cx="1000851" cy="338554"/>
          </a:xfrm>
          <a:prstGeom prst="rect">
            <a:avLst/>
          </a:prstGeom>
          <a:noFill/>
        </p:spPr>
        <p:txBody>
          <a:bodyPr wrap="none" rtlCol="0">
            <a:spAutoFit/>
          </a:bodyPr>
          <a:lstStyle/>
          <a:p>
            <a:r>
              <a:rPr lang="en-US" sz="1600" dirty="0">
                <a:solidFill>
                  <a:srgbClr val="C8102E"/>
                </a:solidFill>
                <a:latin typeface="+mn-lt"/>
              </a:rPr>
              <a:t>Quadratic</a:t>
            </a:r>
          </a:p>
        </p:txBody>
      </p:sp>
    </p:spTree>
    <p:extLst>
      <p:ext uri="{BB962C8B-B14F-4D97-AF65-F5344CB8AC3E}">
        <p14:creationId xmlns:p14="http://schemas.microsoft.com/office/powerpoint/2010/main" val="2350733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3694814"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Quantile Gaussian Process</a:t>
            </a:r>
            <a:endParaRPr lang="en-US" sz="2200" dirty="0">
              <a:solidFill>
                <a:srgbClr val="C8102E"/>
              </a:solidFill>
            </a:endParaRPr>
          </a:p>
        </p:txBody>
      </p:sp>
      <p:cxnSp>
        <p:nvCxnSpPr>
          <p:cNvPr id="13" name="Straight Connector 12"/>
          <p:cNvCxnSpPr/>
          <p:nvPr/>
        </p:nvCxnSpPr>
        <p:spPr bwMode="auto">
          <a:xfrm>
            <a:off x="3776094" y="1123950"/>
            <a:ext cx="4377306"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
        <p:nvSpPr>
          <p:cNvPr id="15" name="TextBox 14"/>
          <p:cNvSpPr txBox="1"/>
          <p:nvPr/>
        </p:nvSpPr>
        <p:spPr>
          <a:xfrm>
            <a:off x="3694814" y="1383090"/>
            <a:ext cx="4763386" cy="423449"/>
          </a:xfrm>
          <a:prstGeom prst="rect">
            <a:avLst/>
          </a:prstGeom>
          <a:noFill/>
        </p:spPr>
        <p:txBody>
          <a:bodyPr wrap="square" rtlCol="0">
            <a:spAutoFit/>
          </a:bodyPr>
          <a:lstStyle/>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rPr>
              <a:t>Recover true distribution from a set of quantiles?</a:t>
            </a:r>
          </a:p>
        </p:txBody>
      </p:sp>
      <p:cxnSp>
        <p:nvCxnSpPr>
          <p:cNvPr id="24" name="Straight Connector 23"/>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2" name="Rectangle 1"/>
          <p:cNvSpPr/>
          <p:nvPr/>
        </p:nvSpPr>
        <p:spPr bwMode="auto">
          <a:xfrm>
            <a:off x="0" y="0"/>
            <a:ext cx="3090672" cy="4636008"/>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pic>
        <p:nvPicPr>
          <p:cNvPr id="4" name="Picture 3" descr="A graph with a line&#10;&#10;AI-generated content may be incorrect.">
            <a:extLst>
              <a:ext uri="{FF2B5EF4-FFF2-40B4-BE49-F238E27FC236}">
                <a16:creationId xmlns:a16="http://schemas.microsoft.com/office/drawing/2014/main" id="{6F9FB56B-E3B6-43CB-4C7C-C9EDB38F2F42}"/>
              </a:ext>
            </a:extLst>
          </p:cNvPr>
          <p:cNvPicPr>
            <a:picLocks noChangeAspect="1"/>
          </p:cNvPicPr>
          <p:nvPr/>
        </p:nvPicPr>
        <p:blipFill>
          <a:blip r:embed="rId2"/>
          <a:stretch>
            <a:fillRect/>
          </a:stretch>
        </p:blipFill>
        <p:spPr>
          <a:xfrm>
            <a:off x="92541" y="1594814"/>
            <a:ext cx="2905590" cy="2292350"/>
          </a:xfrm>
          <a:prstGeom prst="rect">
            <a:avLst/>
          </a:prstGeom>
        </p:spPr>
      </p:pic>
    </p:spTree>
    <p:extLst>
      <p:ext uri="{BB962C8B-B14F-4D97-AF65-F5344CB8AC3E}">
        <p14:creationId xmlns:p14="http://schemas.microsoft.com/office/powerpoint/2010/main" val="1578416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99087-6F02-74A3-390E-D5A83738326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0C95E3B-907B-FBD8-8615-93BA1DD924AC}"/>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Quantile Central Limit Theorem</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33B2F633-0429-295A-8E49-E922F3447584}"/>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8" name="Picture 7" descr="A white paper with black text and black text&#10;&#10;AI-generated content may be incorrect.">
            <a:extLst>
              <a:ext uri="{FF2B5EF4-FFF2-40B4-BE49-F238E27FC236}">
                <a16:creationId xmlns:a16="http://schemas.microsoft.com/office/drawing/2014/main" id="{59030B63-64E8-D41B-0093-D9F286503CDB}"/>
              </a:ext>
            </a:extLst>
          </p:cNvPr>
          <p:cNvPicPr>
            <a:picLocks noChangeAspect="1"/>
          </p:cNvPicPr>
          <p:nvPr/>
        </p:nvPicPr>
        <p:blipFill>
          <a:blip r:embed="rId3"/>
          <a:stretch>
            <a:fillRect/>
          </a:stretch>
        </p:blipFill>
        <p:spPr>
          <a:xfrm>
            <a:off x="734060" y="1233905"/>
            <a:ext cx="6908800" cy="3086100"/>
          </a:xfrm>
          <a:prstGeom prst="rect">
            <a:avLst/>
          </a:prstGeom>
        </p:spPr>
      </p:pic>
    </p:spTree>
    <p:extLst>
      <p:ext uri="{BB962C8B-B14F-4D97-AF65-F5344CB8AC3E}">
        <p14:creationId xmlns:p14="http://schemas.microsoft.com/office/powerpoint/2010/main" val="342622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3F1EE-FA0B-2DAC-6567-58A857F4C3D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9E7F1D6-4BC7-FF1E-282B-AAC8EE0A90AA}"/>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Quantile Gaussian Process (QGP)</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F276136E-888E-21CE-DDC6-65757DF757BE}"/>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black and white text&#10;&#10;AI-generated content may be incorrect.">
            <a:extLst>
              <a:ext uri="{FF2B5EF4-FFF2-40B4-BE49-F238E27FC236}">
                <a16:creationId xmlns:a16="http://schemas.microsoft.com/office/drawing/2014/main" id="{5A33F6C5-441F-D1EE-E256-21FCF6F6867B}"/>
              </a:ext>
            </a:extLst>
          </p:cNvPr>
          <p:cNvPicPr>
            <a:picLocks noChangeAspect="1"/>
          </p:cNvPicPr>
          <p:nvPr/>
        </p:nvPicPr>
        <p:blipFill>
          <a:blip r:embed="rId3"/>
          <a:stretch>
            <a:fillRect/>
          </a:stretch>
        </p:blipFill>
        <p:spPr>
          <a:xfrm>
            <a:off x="631952" y="1428750"/>
            <a:ext cx="2057400" cy="381000"/>
          </a:xfrm>
          <a:prstGeom prst="rect">
            <a:avLst/>
          </a:prstGeom>
        </p:spPr>
      </p:pic>
      <p:pic>
        <p:nvPicPr>
          <p:cNvPr id="5" name="Picture 4" descr="A black text with a black line&#10;&#10;AI-generated content may be incorrect.">
            <a:extLst>
              <a:ext uri="{FF2B5EF4-FFF2-40B4-BE49-F238E27FC236}">
                <a16:creationId xmlns:a16="http://schemas.microsoft.com/office/drawing/2014/main" id="{1CC42835-14E4-C0F0-C116-7644FB304BD0}"/>
              </a:ext>
            </a:extLst>
          </p:cNvPr>
          <p:cNvPicPr>
            <a:picLocks noChangeAspect="1"/>
          </p:cNvPicPr>
          <p:nvPr/>
        </p:nvPicPr>
        <p:blipFill>
          <a:blip r:embed="rId4"/>
          <a:stretch>
            <a:fillRect/>
          </a:stretch>
        </p:blipFill>
        <p:spPr>
          <a:xfrm>
            <a:off x="631952" y="2223742"/>
            <a:ext cx="3340100" cy="622300"/>
          </a:xfrm>
          <a:prstGeom prst="rect">
            <a:avLst/>
          </a:prstGeom>
        </p:spPr>
      </p:pic>
      <p:pic>
        <p:nvPicPr>
          <p:cNvPr id="7" name="Picture 6">
            <a:extLst>
              <a:ext uri="{FF2B5EF4-FFF2-40B4-BE49-F238E27FC236}">
                <a16:creationId xmlns:a16="http://schemas.microsoft.com/office/drawing/2014/main" id="{1D53587A-B273-B83B-825C-7EDC3607F926}"/>
              </a:ext>
            </a:extLst>
          </p:cNvPr>
          <p:cNvPicPr>
            <a:picLocks noChangeAspect="1"/>
          </p:cNvPicPr>
          <p:nvPr/>
        </p:nvPicPr>
        <p:blipFill>
          <a:blip r:embed="rId5"/>
          <a:stretch>
            <a:fillRect/>
          </a:stretch>
        </p:blipFill>
        <p:spPr>
          <a:xfrm>
            <a:off x="4401312" y="2401542"/>
            <a:ext cx="2476500" cy="266700"/>
          </a:xfrm>
          <a:prstGeom prst="rect">
            <a:avLst/>
          </a:prstGeom>
        </p:spPr>
      </p:pic>
      <p:sp>
        <p:nvSpPr>
          <p:cNvPr id="9" name="TextBox 8">
            <a:extLst>
              <a:ext uri="{FF2B5EF4-FFF2-40B4-BE49-F238E27FC236}">
                <a16:creationId xmlns:a16="http://schemas.microsoft.com/office/drawing/2014/main" id="{59A9E1E5-7BA2-DFF5-31FD-74F429035DAE}"/>
              </a:ext>
            </a:extLst>
          </p:cNvPr>
          <p:cNvSpPr txBox="1"/>
          <p:nvPr/>
        </p:nvSpPr>
        <p:spPr>
          <a:xfrm>
            <a:off x="4124932" y="1911858"/>
            <a:ext cx="2094035" cy="338554"/>
          </a:xfrm>
          <a:prstGeom prst="rect">
            <a:avLst/>
          </a:prstGeom>
          <a:noFill/>
        </p:spPr>
        <p:txBody>
          <a:bodyPr wrap="none" rtlCol="0">
            <a:spAutoFit/>
          </a:bodyPr>
          <a:lstStyle/>
          <a:p>
            <a:r>
              <a:rPr lang="en-US" sz="1600" dirty="0">
                <a:solidFill>
                  <a:srgbClr val="C8102E"/>
                </a:solidFill>
                <a:latin typeface="+mn-lt"/>
              </a:rPr>
              <a:t>If location-scale family:</a:t>
            </a:r>
          </a:p>
        </p:txBody>
      </p:sp>
      <p:sp>
        <p:nvSpPr>
          <p:cNvPr id="10" name="TextBox 9">
            <a:extLst>
              <a:ext uri="{FF2B5EF4-FFF2-40B4-BE49-F238E27FC236}">
                <a16:creationId xmlns:a16="http://schemas.microsoft.com/office/drawing/2014/main" id="{9B78A6A9-F8C4-A2A0-4531-26147DD71034}"/>
              </a:ext>
            </a:extLst>
          </p:cNvPr>
          <p:cNvSpPr txBox="1"/>
          <p:nvPr/>
        </p:nvSpPr>
        <p:spPr>
          <a:xfrm>
            <a:off x="570933" y="3090757"/>
            <a:ext cx="1226618" cy="338554"/>
          </a:xfrm>
          <a:prstGeom prst="rect">
            <a:avLst/>
          </a:prstGeom>
          <a:noFill/>
        </p:spPr>
        <p:txBody>
          <a:bodyPr wrap="none" rtlCol="0">
            <a:spAutoFit/>
          </a:bodyPr>
          <a:lstStyle/>
          <a:p>
            <a:r>
              <a:rPr lang="en-US" sz="1600" dirty="0">
                <a:solidFill>
                  <a:srgbClr val="C8102E"/>
                </a:solidFill>
                <a:latin typeface="+mn-lt"/>
              </a:rPr>
              <a:t>Normal QGP</a:t>
            </a:r>
          </a:p>
        </p:txBody>
      </p:sp>
      <p:pic>
        <p:nvPicPr>
          <p:cNvPr id="14" name="Picture 13" descr="A black and white image of a smiley face&#10;&#10;AI-generated content may be incorrect.">
            <a:extLst>
              <a:ext uri="{FF2B5EF4-FFF2-40B4-BE49-F238E27FC236}">
                <a16:creationId xmlns:a16="http://schemas.microsoft.com/office/drawing/2014/main" id="{53DF93F5-6909-0B04-B38C-DBCF78950E3B}"/>
              </a:ext>
            </a:extLst>
          </p:cNvPr>
          <p:cNvPicPr>
            <a:picLocks noChangeAspect="1"/>
          </p:cNvPicPr>
          <p:nvPr/>
        </p:nvPicPr>
        <p:blipFill>
          <a:blip r:embed="rId6"/>
          <a:stretch>
            <a:fillRect/>
          </a:stretch>
        </p:blipFill>
        <p:spPr>
          <a:xfrm>
            <a:off x="631952" y="3573047"/>
            <a:ext cx="2552700" cy="571500"/>
          </a:xfrm>
          <a:prstGeom prst="rect">
            <a:avLst/>
          </a:prstGeom>
        </p:spPr>
      </p:pic>
      <p:pic>
        <p:nvPicPr>
          <p:cNvPr id="16" name="Picture 15" descr="A black and white math symbols&#10;&#10;AI-generated content may be incorrect.">
            <a:extLst>
              <a:ext uri="{FF2B5EF4-FFF2-40B4-BE49-F238E27FC236}">
                <a16:creationId xmlns:a16="http://schemas.microsoft.com/office/drawing/2014/main" id="{BDAC9C51-9935-6232-9967-DD72F646879F}"/>
              </a:ext>
            </a:extLst>
          </p:cNvPr>
          <p:cNvPicPr>
            <a:picLocks noChangeAspect="1"/>
          </p:cNvPicPr>
          <p:nvPr/>
        </p:nvPicPr>
        <p:blipFill>
          <a:blip r:embed="rId7"/>
          <a:stretch>
            <a:fillRect/>
          </a:stretch>
        </p:blipFill>
        <p:spPr>
          <a:xfrm>
            <a:off x="3657600" y="3540224"/>
            <a:ext cx="2603500" cy="533400"/>
          </a:xfrm>
          <a:prstGeom prst="rect">
            <a:avLst/>
          </a:prstGeom>
        </p:spPr>
      </p:pic>
      <p:pic>
        <p:nvPicPr>
          <p:cNvPr id="18" name="Picture 17" descr="A close up of a letter&#10;&#10;AI-generated content may be incorrect.">
            <a:extLst>
              <a:ext uri="{FF2B5EF4-FFF2-40B4-BE49-F238E27FC236}">
                <a16:creationId xmlns:a16="http://schemas.microsoft.com/office/drawing/2014/main" id="{34F4BDB9-0835-5BAE-1FD6-059DA9F61C78}"/>
              </a:ext>
            </a:extLst>
          </p:cNvPr>
          <p:cNvPicPr>
            <a:picLocks noChangeAspect="1"/>
          </p:cNvPicPr>
          <p:nvPr/>
        </p:nvPicPr>
        <p:blipFill>
          <a:blip r:embed="rId8"/>
          <a:stretch>
            <a:fillRect/>
          </a:stretch>
        </p:blipFill>
        <p:spPr>
          <a:xfrm>
            <a:off x="7153150" y="3635474"/>
            <a:ext cx="1714500" cy="342900"/>
          </a:xfrm>
          <a:prstGeom prst="rect">
            <a:avLst/>
          </a:prstGeom>
        </p:spPr>
      </p:pic>
      <p:cxnSp>
        <p:nvCxnSpPr>
          <p:cNvPr id="20" name="Straight Arrow Connector 19">
            <a:extLst>
              <a:ext uri="{FF2B5EF4-FFF2-40B4-BE49-F238E27FC236}">
                <a16:creationId xmlns:a16="http://schemas.microsoft.com/office/drawing/2014/main" id="{A6754BAF-F73D-4FC3-3040-727EFFE20B35}"/>
              </a:ext>
            </a:extLst>
          </p:cNvPr>
          <p:cNvCxnSpPr>
            <a:cxnSpLocks/>
            <a:stCxn id="16" idx="3"/>
            <a:endCxn id="18" idx="1"/>
          </p:cNvCxnSpPr>
          <p:nvPr/>
        </p:nvCxnSpPr>
        <p:spPr bwMode="auto">
          <a:xfrm>
            <a:off x="6261100" y="3806924"/>
            <a:ext cx="892050" cy="0"/>
          </a:xfrm>
          <a:prstGeom prst="straightConnector1">
            <a:avLst/>
          </a:prstGeom>
          <a:solidFill>
            <a:schemeClr val="accent1"/>
          </a:solidFill>
          <a:ln w="9525" cap="flat" cmpd="sng" algn="ctr">
            <a:solidFill>
              <a:srgbClr val="F1BE48"/>
            </a:solidFill>
            <a:prstDash val="solid"/>
            <a:round/>
            <a:headEnd type="none" w="med" len="med"/>
            <a:tailEnd type="triangle"/>
          </a:ln>
          <a:effectLst/>
        </p:spPr>
      </p:cxnSp>
    </p:spTree>
    <p:extLst>
      <p:ext uri="{BB962C8B-B14F-4D97-AF65-F5344CB8AC3E}">
        <p14:creationId xmlns:p14="http://schemas.microsoft.com/office/powerpoint/2010/main" val="1028397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C47214-FA9D-9AF8-9167-71160D86EC3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5D9A7E5-99F9-D50A-8964-61815B0E04FD}"/>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Simulation Study: Recovery of Parameters</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0AA2DD58-193F-8B76-A0A4-CEF6D4E18EA8}"/>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group of graphs showing different sizes and colors&#10;&#10;AI-generated content may be incorrect.">
            <a:extLst>
              <a:ext uri="{FF2B5EF4-FFF2-40B4-BE49-F238E27FC236}">
                <a16:creationId xmlns:a16="http://schemas.microsoft.com/office/drawing/2014/main" id="{CE72F2AD-6776-441D-F2D2-CA74A965C7CC}"/>
              </a:ext>
            </a:extLst>
          </p:cNvPr>
          <p:cNvPicPr>
            <a:picLocks noChangeAspect="1"/>
          </p:cNvPicPr>
          <p:nvPr/>
        </p:nvPicPr>
        <p:blipFill>
          <a:blip r:embed="rId3"/>
          <a:stretch>
            <a:fillRect/>
          </a:stretch>
        </p:blipFill>
        <p:spPr>
          <a:xfrm>
            <a:off x="76200" y="1301750"/>
            <a:ext cx="5737888" cy="2185862"/>
          </a:xfrm>
          <a:prstGeom prst="rect">
            <a:avLst/>
          </a:prstGeom>
        </p:spPr>
      </p:pic>
      <p:pic>
        <p:nvPicPr>
          <p:cNvPr id="5" name="Picture 4" descr="A group of graphs with numbers&#10;&#10;AI-generated content may be incorrect.">
            <a:extLst>
              <a:ext uri="{FF2B5EF4-FFF2-40B4-BE49-F238E27FC236}">
                <a16:creationId xmlns:a16="http://schemas.microsoft.com/office/drawing/2014/main" id="{3D1CD391-8EAC-8A97-70F8-78A5AE183EB3}"/>
              </a:ext>
            </a:extLst>
          </p:cNvPr>
          <p:cNvPicPr>
            <a:picLocks noChangeAspect="1"/>
          </p:cNvPicPr>
          <p:nvPr/>
        </p:nvPicPr>
        <p:blipFill>
          <a:blip r:embed="rId4"/>
          <a:stretch>
            <a:fillRect/>
          </a:stretch>
        </p:blipFill>
        <p:spPr>
          <a:xfrm>
            <a:off x="6019800" y="1282701"/>
            <a:ext cx="3114058" cy="2203450"/>
          </a:xfrm>
          <a:prstGeom prst="rect">
            <a:avLst/>
          </a:prstGeom>
        </p:spPr>
      </p:pic>
    </p:spTree>
    <p:extLst>
      <p:ext uri="{BB962C8B-B14F-4D97-AF65-F5344CB8AC3E}">
        <p14:creationId xmlns:p14="http://schemas.microsoft.com/office/powerpoint/2010/main" val="3223228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04C38D3-06F3-2587-AB0E-9CD9705751C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BE12869-236A-0209-4FB8-CB0C1B7EFA03}"/>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Simulation Study: Coverage of True Quantiles</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DA353074-EB40-3770-2B1E-9CFA0497B31A}"/>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4" name="Picture 3" descr="A graph of different types of data&#10;&#10;AI-generated content may be incorrect.">
            <a:extLst>
              <a:ext uri="{FF2B5EF4-FFF2-40B4-BE49-F238E27FC236}">
                <a16:creationId xmlns:a16="http://schemas.microsoft.com/office/drawing/2014/main" id="{57AB7864-65AE-4F68-2E93-01F155741A3F}"/>
              </a:ext>
            </a:extLst>
          </p:cNvPr>
          <p:cNvPicPr>
            <a:picLocks noChangeAspect="1"/>
          </p:cNvPicPr>
          <p:nvPr/>
        </p:nvPicPr>
        <p:blipFill>
          <a:blip r:embed="rId3"/>
          <a:stretch>
            <a:fillRect/>
          </a:stretch>
        </p:blipFill>
        <p:spPr>
          <a:xfrm>
            <a:off x="1016000" y="1170758"/>
            <a:ext cx="6070600" cy="3382191"/>
          </a:xfrm>
          <a:prstGeom prst="rect">
            <a:avLst/>
          </a:prstGeom>
        </p:spPr>
      </p:pic>
    </p:spTree>
    <p:extLst>
      <p:ext uri="{BB962C8B-B14F-4D97-AF65-F5344CB8AC3E}">
        <p14:creationId xmlns:p14="http://schemas.microsoft.com/office/powerpoint/2010/main" val="2248065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C7011-B295-256D-E43F-7254CEA4EF0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B807434-338A-4212-F487-5E6C6DE844E5}"/>
              </a:ext>
            </a:extLst>
          </p:cNvPr>
          <p:cNvSpPr txBox="1"/>
          <p:nvPr/>
        </p:nvSpPr>
        <p:spPr>
          <a:xfrm>
            <a:off x="604520" y="583109"/>
            <a:ext cx="7929880" cy="430887"/>
          </a:xfrm>
          <a:prstGeom prst="rect">
            <a:avLst/>
          </a:prstGeom>
          <a:noFill/>
        </p:spPr>
        <p:txBody>
          <a:bodyPr wrap="square" rtlCol="0">
            <a:spAutoFit/>
          </a:bodyPr>
          <a:lstStyle/>
          <a:p>
            <a:r>
              <a:rPr lang="en-US" sz="2200" b="1" dirty="0">
                <a:solidFill>
                  <a:srgbClr val="C8102E"/>
                </a:solidFill>
                <a:latin typeface="Univers 75 Black" charset="0"/>
              </a:rPr>
              <a:t>Simulation Study: Estimating Two-Component Normal Mixture</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8F8034A8-585D-58BE-A3CB-C6AE0BFEC3AC}"/>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graph of different types of graphs&#10;&#10;AI-generated content may be incorrect.">
            <a:extLst>
              <a:ext uri="{FF2B5EF4-FFF2-40B4-BE49-F238E27FC236}">
                <a16:creationId xmlns:a16="http://schemas.microsoft.com/office/drawing/2014/main" id="{02EC7560-B34C-5D57-525B-60F881E2E012}"/>
              </a:ext>
            </a:extLst>
          </p:cNvPr>
          <p:cNvPicPr>
            <a:picLocks noChangeAspect="1"/>
          </p:cNvPicPr>
          <p:nvPr/>
        </p:nvPicPr>
        <p:blipFill>
          <a:blip r:embed="rId3"/>
          <a:stretch>
            <a:fillRect/>
          </a:stretch>
        </p:blipFill>
        <p:spPr>
          <a:xfrm>
            <a:off x="533400" y="1251431"/>
            <a:ext cx="7772400" cy="3242200"/>
          </a:xfrm>
          <a:prstGeom prst="rect">
            <a:avLst/>
          </a:prstGeom>
        </p:spPr>
      </p:pic>
    </p:spTree>
    <p:extLst>
      <p:ext uri="{BB962C8B-B14F-4D97-AF65-F5344CB8AC3E}">
        <p14:creationId xmlns:p14="http://schemas.microsoft.com/office/powerpoint/2010/main" val="2415127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02BB6-4F0E-3153-9577-239D1C18CED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6CCC7B6-0703-FF6B-615F-1DCBF5C83A21}"/>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Simulation Study: Distance from True Distribution</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6F1DCE27-1180-1C19-B196-B3402670BA04}"/>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4" name="Picture 3" descr="A screenshot of a graph&#10;&#10;AI-generated content may be incorrect.">
            <a:extLst>
              <a:ext uri="{FF2B5EF4-FFF2-40B4-BE49-F238E27FC236}">
                <a16:creationId xmlns:a16="http://schemas.microsoft.com/office/drawing/2014/main" id="{E89C668C-8087-DB44-49CC-D2BB8F762D58}"/>
              </a:ext>
            </a:extLst>
          </p:cNvPr>
          <p:cNvPicPr>
            <a:picLocks noChangeAspect="1"/>
          </p:cNvPicPr>
          <p:nvPr/>
        </p:nvPicPr>
        <p:blipFill>
          <a:blip r:embed="rId3"/>
          <a:stretch>
            <a:fillRect/>
          </a:stretch>
        </p:blipFill>
        <p:spPr>
          <a:xfrm>
            <a:off x="457200" y="1398598"/>
            <a:ext cx="8229600" cy="3040039"/>
          </a:xfrm>
          <a:prstGeom prst="rect">
            <a:avLst/>
          </a:prstGeom>
        </p:spPr>
      </p:pic>
    </p:spTree>
    <p:extLst>
      <p:ext uri="{BB962C8B-B14F-4D97-AF65-F5344CB8AC3E}">
        <p14:creationId xmlns:p14="http://schemas.microsoft.com/office/powerpoint/2010/main" val="2932044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5FAC9-ABD1-2F3B-DEEF-EDB4A1C8208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C9156A7-75DE-775B-C20B-717912D47DEA}"/>
              </a:ext>
            </a:extLst>
          </p:cNvPr>
          <p:cNvSpPr txBox="1"/>
          <p:nvPr/>
        </p:nvSpPr>
        <p:spPr>
          <a:xfrm>
            <a:off x="228600" y="583109"/>
            <a:ext cx="2057400" cy="430887"/>
          </a:xfrm>
          <a:prstGeom prst="rect">
            <a:avLst/>
          </a:prstGeom>
          <a:noFill/>
        </p:spPr>
        <p:txBody>
          <a:bodyPr wrap="square" rtlCol="0">
            <a:spAutoFit/>
          </a:bodyPr>
          <a:lstStyle/>
          <a:p>
            <a:r>
              <a:rPr lang="en-US" sz="2200" b="1" dirty="0" err="1">
                <a:solidFill>
                  <a:srgbClr val="C8102E"/>
                </a:solidFill>
                <a:latin typeface="Univers 75 Black" charset="0"/>
              </a:rPr>
              <a:t>Ensembling</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3D947E18-BA14-6199-6780-E6BD258BD6A8}"/>
              </a:ext>
            </a:extLst>
          </p:cNvPr>
          <p:cNvCxnSpPr>
            <a:cxnSpLocks/>
          </p:cNvCxnSpPr>
          <p:nvPr/>
        </p:nvCxnSpPr>
        <p:spPr bwMode="auto">
          <a:xfrm>
            <a:off x="309880" y="1123950"/>
            <a:ext cx="1752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graph of a number of data&#10;&#10;AI-generated content may be incorrect.">
            <a:extLst>
              <a:ext uri="{FF2B5EF4-FFF2-40B4-BE49-F238E27FC236}">
                <a16:creationId xmlns:a16="http://schemas.microsoft.com/office/drawing/2014/main" id="{3DD7A8CF-68B7-E5A8-5E6D-506B79F67864}"/>
              </a:ext>
            </a:extLst>
          </p:cNvPr>
          <p:cNvPicPr>
            <a:picLocks noChangeAspect="1"/>
          </p:cNvPicPr>
          <p:nvPr/>
        </p:nvPicPr>
        <p:blipFill>
          <a:blip r:embed="rId3"/>
          <a:stretch>
            <a:fillRect/>
          </a:stretch>
        </p:blipFill>
        <p:spPr>
          <a:xfrm>
            <a:off x="2251129" y="5531"/>
            <a:ext cx="6892872" cy="4623614"/>
          </a:xfrm>
          <a:prstGeom prst="rect">
            <a:avLst/>
          </a:prstGeom>
        </p:spPr>
      </p:pic>
    </p:spTree>
    <p:extLst>
      <p:ext uri="{BB962C8B-B14F-4D97-AF65-F5344CB8AC3E}">
        <p14:creationId xmlns:p14="http://schemas.microsoft.com/office/powerpoint/2010/main" val="1593051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DBB4EFB-054C-85DC-5068-CE555728812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F79383F-31E8-CB9B-D897-F99E1CD13A9F}"/>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CDC Flu Forecasting Model Rank </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AA56C6FF-01BE-7368-CFC6-3552280EC5D4}"/>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graph with black squares&#10;&#10;AI-generated content may be incorrect.">
            <a:extLst>
              <a:ext uri="{FF2B5EF4-FFF2-40B4-BE49-F238E27FC236}">
                <a16:creationId xmlns:a16="http://schemas.microsoft.com/office/drawing/2014/main" id="{69A86CA7-E06B-31E8-6903-DA39EE361B89}"/>
              </a:ext>
            </a:extLst>
          </p:cNvPr>
          <p:cNvPicPr>
            <a:picLocks noChangeAspect="1"/>
          </p:cNvPicPr>
          <p:nvPr/>
        </p:nvPicPr>
        <p:blipFill>
          <a:blip r:embed="rId3"/>
          <a:stretch>
            <a:fillRect/>
          </a:stretch>
        </p:blipFill>
        <p:spPr>
          <a:xfrm>
            <a:off x="762000" y="1276350"/>
            <a:ext cx="4356100" cy="3098800"/>
          </a:xfrm>
          <a:prstGeom prst="rect">
            <a:avLst/>
          </a:prstGeom>
        </p:spPr>
      </p:pic>
    </p:spTree>
    <p:extLst>
      <p:ext uri="{BB962C8B-B14F-4D97-AF65-F5344CB8AC3E}">
        <p14:creationId xmlns:p14="http://schemas.microsoft.com/office/powerpoint/2010/main" val="2758670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B29AE-160F-0585-A0B8-C3985F281828}"/>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94FA2D73-E362-2A93-269F-3BFCD7BC6646}"/>
              </a:ext>
            </a:extLst>
          </p:cNvPr>
          <p:cNvSpPr txBox="1"/>
          <p:nvPr/>
        </p:nvSpPr>
        <p:spPr>
          <a:xfrm>
            <a:off x="3694814"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Bayesian Stacking</a:t>
            </a:r>
            <a:endParaRPr lang="en-US" sz="2200" dirty="0">
              <a:solidFill>
                <a:srgbClr val="C8102E"/>
              </a:solidFill>
            </a:endParaRPr>
          </a:p>
        </p:txBody>
      </p:sp>
      <p:cxnSp>
        <p:nvCxnSpPr>
          <p:cNvPr id="13" name="Straight Connector 12">
            <a:extLst>
              <a:ext uri="{FF2B5EF4-FFF2-40B4-BE49-F238E27FC236}">
                <a16:creationId xmlns:a16="http://schemas.microsoft.com/office/drawing/2014/main" id="{FB237A00-2F3E-9141-0B6D-14DB08084581}"/>
              </a:ext>
            </a:extLst>
          </p:cNvPr>
          <p:cNvCxnSpPr/>
          <p:nvPr/>
        </p:nvCxnSpPr>
        <p:spPr bwMode="auto">
          <a:xfrm>
            <a:off x="3776094" y="1123950"/>
            <a:ext cx="4377306"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
        <p:nvSpPr>
          <p:cNvPr id="15" name="TextBox 14">
            <a:extLst>
              <a:ext uri="{FF2B5EF4-FFF2-40B4-BE49-F238E27FC236}">
                <a16:creationId xmlns:a16="http://schemas.microsoft.com/office/drawing/2014/main" id="{E79F0ED9-816D-B6C5-BF45-40822A264C04}"/>
              </a:ext>
            </a:extLst>
          </p:cNvPr>
          <p:cNvSpPr txBox="1"/>
          <p:nvPr/>
        </p:nvSpPr>
        <p:spPr>
          <a:xfrm>
            <a:off x="3694814" y="1383090"/>
            <a:ext cx="4763386" cy="423449"/>
          </a:xfrm>
          <a:prstGeom prst="rect">
            <a:avLst/>
          </a:prstGeom>
          <a:noFill/>
        </p:spPr>
        <p:txBody>
          <a:bodyPr wrap="square" rtlCol="0">
            <a:spAutoFit/>
          </a:bodyPr>
          <a:lstStyle/>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rPr>
              <a:t>How can we create better ensemble forecasts?</a:t>
            </a:r>
          </a:p>
        </p:txBody>
      </p:sp>
      <p:cxnSp>
        <p:nvCxnSpPr>
          <p:cNvPr id="24" name="Straight Connector 23">
            <a:extLst>
              <a:ext uri="{FF2B5EF4-FFF2-40B4-BE49-F238E27FC236}">
                <a16:creationId xmlns:a16="http://schemas.microsoft.com/office/drawing/2014/main" id="{21F9AE33-57FE-80BF-AB04-0D581300A0A8}"/>
              </a:ext>
            </a:extLst>
          </p:cNvPr>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2" name="Rectangle 1">
            <a:extLst>
              <a:ext uri="{FF2B5EF4-FFF2-40B4-BE49-F238E27FC236}">
                <a16:creationId xmlns:a16="http://schemas.microsoft.com/office/drawing/2014/main" id="{F189566E-03FD-458B-782E-785CDDC969F6}"/>
              </a:ext>
            </a:extLst>
          </p:cNvPr>
          <p:cNvSpPr/>
          <p:nvPr/>
        </p:nvSpPr>
        <p:spPr bwMode="auto">
          <a:xfrm>
            <a:off x="0" y="0"/>
            <a:ext cx="3090672" cy="4636008"/>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pic>
        <p:nvPicPr>
          <p:cNvPr id="5" name="Picture 4" descr="A graph showing the growth of the band&#10;&#10;AI-generated content may be incorrect.">
            <a:extLst>
              <a:ext uri="{FF2B5EF4-FFF2-40B4-BE49-F238E27FC236}">
                <a16:creationId xmlns:a16="http://schemas.microsoft.com/office/drawing/2014/main" id="{20D03E88-1DC8-7DEB-64EC-FEA2A13E909C}"/>
              </a:ext>
            </a:extLst>
          </p:cNvPr>
          <p:cNvPicPr>
            <a:picLocks noChangeAspect="1"/>
          </p:cNvPicPr>
          <p:nvPr/>
        </p:nvPicPr>
        <p:blipFill>
          <a:blip r:embed="rId2"/>
          <a:stretch>
            <a:fillRect/>
          </a:stretch>
        </p:blipFill>
        <p:spPr>
          <a:xfrm>
            <a:off x="62489" y="2419350"/>
            <a:ext cx="2965694" cy="1937587"/>
          </a:xfrm>
          <a:prstGeom prst="rect">
            <a:avLst/>
          </a:prstGeom>
        </p:spPr>
      </p:pic>
      <p:pic>
        <p:nvPicPr>
          <p:cNvPr id="7" name="Picture 6" descr="A black and white math symbol&#10;&#10;AI-generated content may be incorrect.">
            <a:extLst>
              <a:ext uri="{FF2B5EF4-FFF2-40B4-BE49-F238E27FC236}">
                <a16:creationId xmlns:a16="http://schemas.microsoft.com/office/drawing/2014/main" id="{013966FC-F4A9-CD9A-6940-7136713ECD4D}"/>
              </a:ext>
            </a:extLst>
          </p:cNvPr>
          <p:cNvPicPr>
            <a:picLocks noChangeAspect="1"/>
          </p:cNvPicPr>
          <p:nvPr/>
        </p:nvPicPr>
        <p:blipFill>
          <a:blip r:embed="rId3"/>
          <a:stretch>
            <a:fillRect/>
          </a:stretch>
        </p:blipFill>
        <p:spPr>
          <a:xfrm>
            <a:off x="3808478" y="2216150"/>
            <a:ext cx="2247900" cy="711200"/>
          </a:xfrm>
          <a:prstGeom prst="rect">
            <a:avLst/>
          </a:prstGeom>
        </p:spPr>
      </p:pic>
      <p:pic>
        <p:nvPicPr>
          <p:cNvPr id="4" name="Picture 3" descr="A graph with different colored lines&#10;&#10;AI-generated content may be incorrect.">
            <a:extLst>
              <a:ext uri="{FF2B5EF4-FFF2-40B4-BE49-F238E27FC236}">
                <a16:creationId xmlns:a16="http://schemas.microsoft.com/office/drawing/2014/main" id="{888736EE-B646-05CA-AF26-E1D33C1EB026}"/>
              </a:ext>
            </a:extLst>
          </p:cNvPr>
          <p:cNvPicPr>
            <a:picLocks noChangeAspect="1"/>
          </p:cNvPicPr>
          <p:nvPr/>
        </p:nvPicPr>
        <p:blipFill>
          <a:blip r:embed="rId4"/>
          <a:stretch>
            <a:fillRect/>
          </a:stretch>
        </p:blipFill>
        <p:spPr>
          <a:xfrm>
            <a:off x="62489" y="215285"/>
            <a:ext cx="2981965" cy="1823065"/>
          </a:xfrm>
          <a:prstGeom prst="rect">
            <a:avLst/>
          </a:prstGeom>
        </p:spPr>
      </p:pic>
    </p:spTree>
    <p:extLst>
      <p:ext uri="{BB962C8B-B14F-4D97-AF65-F5344CB8AC3E}">
        <p14:creationId xmlns:p14="http://schemas.microsoft.com/office/powerpoint/2010/main" val="1820219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8E6F2-6D3C-45A0-51E4-BF661C906AC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403E9BB-5200-4EA6-BDC9-BDD7F6F9A914}"/>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Stacked Gibbs Posterior</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BFF1F01D-B442-798D-E985-B64DA44C4350}"/>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2" name="Picture 1" descr="A black and white math equation&#10;&#10;AI-generated content may be incorrect.">
            <a:extLst>
              <a:ext uri="{FF2B5EF4-FFF2-40B4-BE49-F238E27FC236}">
                <a16:creationId xmlns:a16="http://schemas.microsoft.com/office/drawing/2014/main" id="{2F54ADE2-3952-FE77-DB65-3A0E8A315CC8}"/>
              </a:ext>
            </a:extLst>
          </p:cNvPr>
          <p:cNvPicPr>
            <a:picLocks noChangeAspect="1"/>
          </p:cNvPicPr>
          <p:nvPr/>
        </p:nvPicPr>
        <p:blipFill>
          <a:blip r:embed="rId3"/>
          <a:stretch>
            <a:fillRect/>
          </a:stretch>
        </p:blipFill>
        <p:spPr>
          <a:xfrm>
            <a:off x="604520" y="1504950"/>
            <a:ext cx="2755900" cy="520700"/>
          </a:xfrm>
          <a:prstGeom prst="rect">
            <a:avLst/>
          </a:prstGeom>
        </p:spPr>
      </p:pic>
      <p:sp>
        <p:nvSpPr>
          <p:cNvPr id="3" name="TextBox 2">
            <a:extLst>
              <a:ext uri="{FF2B5EF4-FFF2-40B4-BE49-F238E27FC236}">
                <a16:creationId xmlns:a16="http://schemas.microsoft.com/office/drawing/2014/main" id="{CC6F6197-D4CB-CDE1-7611-84E0BAFB28E9}"/>
              </a:ext>
            </a:extLst>
          </p:cNvPr>
          <p:cNvSpPr txBox="1"/>
          <p:nvPr/>
        </p:nvSpPr>
        <p:spPr>
          <a:xfrm>
            <a:off x="604520" y="1347568"/>
            <a:ext cx="822661" cy="307777"/>
          </a:xfrm>
          <a:prstGeom prst="rect">
            <a:avLst/>
          </a:prstGeom>
          <a:noFill/>
        </p:spPr>
        <p:txBody>
          <a:bodyPr wrap="none" rtlCol="0">
            <a:spAutoFit/>
          </a:bodyPr>
          <a:lstStyle/>
          <a:p>
            <a:r>
              <a:rPr lang="en-US" sz="1400" dirty="0">
                <a:solidFill>
                  <a:srgbClr val="F1BE48"/>
                </a:solidFill>
              </a:rPr>
              <a:t>posterior</a:t>
            </a:r>
          </a:p>
        </p:txBody>
      </p:sp>
      <p:sp>
        <p:nvSpPr>
          <p:cNvPr id="4" name="TextBox 3">
            <a:extLst>
              <a:ext uri="{FF2B5EF4-FFF2-40B4-BE49-F238E27FC236}">
                <a16:creationId xmlns:a16="http://schemas.microsoft.com/office/drawing/2014/main" id="{B4DEE9F9-5EEB-FF31-905F-47D4062A3530}"/>
              </a:ext>
            </a:extLst>
          </p:cNvPr>
          <p:cNvSpPr txBox="1"/>
          <p:nvPr/>
        </p:nvSpPr>
        <p:spPr>
          <a:xfrm>
            <a:off x="2743200" y="1347567"/>
            <a:ext cx="532518" cy="307777"/>
          </a:xfrm>
          <a:prstGeom prst="rect">
            <a:avLst/>
          </a:prstGeom>
          <a:noFill/>
        </p:spPr>
        <p:txBody>
          <a:bodyPr wrap="none" rtlCol="0">
            <a:spAutoFit/>
          </a:bodyPr>
          <a:lstStyle/>
          <a:p>
            <a:r>
              <a:rPr lang="en-US" sz="1400" dirty="0">
                <a:solidFill>
                  <a:srgbClr val="F1BE48"/>
                </a:solidFill>
              </a:rPr>
              <a:t>prior</a:t>
            </a:r>
          </a:p>
        </p:txBody>
      </p:sp>
      <p:sp>
        <p:nvSpPr>
          <p:cNvPr id="6" name="TextBox 5">
            <a:extLst>
              <a:ext uri="{FF2B5EF4-FFF2-40B4-BE49-F238E27FC236}">
                <a16:creationId xmlns:a16="http://schemas.microsoft.com/office/drawing/2014/main" id="{6B07FD10-6FCB-7F3C-6B9F-B6212D630365}"/>
              </a:ext>
            </a:extLst>
          </p:cNvPr>
          <p:cNvSpPr txBox="1"/>
          <p:nvPr/>
        </p:nvSpPr>
        <p:spPr>
          <a:xfrm>
            <a:off x="1600200" y="1853396"/>
            <a:ext cx="1051891" cy="307777"/>
          </a:xfrm>
          <a:prstGeom prst="rect">
            <a:avLst/>
          </a:prstGeom>
          <a:noFill/>
        </p:spPr>
        <p:txBody>
          <a:bodyPr wrap="none" rtlCol="0">
            <a:spAutoFit/>
          </a:bodyPr>
          <a:lstStyle/>
          <a:p>
            <a:r>
              <a:rPr lang="en-US" sz="1400" dirty="0">
                <a:solidFill>
                  <a:srgbClr val="F1BE48"/>
                </a:solidFill>
              </a:rPr>
              <a:t>Likelihood?</a:t>
            </a:r>
          </a:p>
        </p:txBody>
      </p:sp>
      <p:grpSp>
        <p:nvGrpSpPr>
          <p:cNvPr id="23" name="Group 22">
            <a:extLst>
              <a:ext uri="{FF2B5EF4-FFF2-40B4-BE49-F238E27FC236}">
                <a16:creationId xmlns:a16="http://schemas.microsoft.com/office/drawing/2014/main" id="{5A5EC050-422E-F423-3FA2-DEFEB672E184}"/>
              </a:ext>
            </a:extLst>
          </p:cNvPr>
          <p:cNvGrpSpPr/>
          <p:nvPr/>
        </p:nvGrpSpPr>
        <p:grpSpPr>
          <a:xfrm>
            <a:off x="533400" y="2606777"/>
            <a:ext cx="4758096" cy="1799246"/>
            <a:chOff x="533400" y="2756843"/>
            <a:chExt cx="4758096" cy="1799246"/>
          </a:xfrm>
        </p:grpSpPr>
        <p:pic>
          <p:nvPicPr>
            <p:cNvPr id="5" name="Picture 4" descr="A mathematical equation with numbers and symbols&#10;&#10;AI-generated content may be incorrect.">
              <a:extLst>
                <a:ext uri="{FF2B5EF4-FFF2-40B4-BE49-F238E27FC236}">
                  <a16:creationId xmlns:a16="http://schemas.microsoft.com/office/drawing/2014/main" id="{72057E9E-5694-B5EC-3A5C-EDD0793803B2}"/>
                </a:ext>
              </a:extLst>
            </p:cNvPr>
            <p:cNvPicPr>
              <a:picLocks noChangeAspect="1"/>
            </p:cNvPicPr>
            <p:nvPr/>
          </p:nvPicPr>
          <p:blipFill>
            <a:blip r:embed="rId4"/>
            <a:stretch>
              <a:fillRect/>
            </a:stretch>
          </p:blipFill>
          <p:spPr>
            <a:xfrm>
              <a:off x="533400" y="3308350"/>
              <a:ext cx="3467100" cy="711200"/>
            </a:xfrm>
            <a:prstGeom prst="rect">
              <a:avLst/>
            </a:prstGeom>
          </p:spPr>
        </p:pic>
        <p:sp>
          <p:nvSpPr>
            <p:cNvPr id="7" name="TextBox 6">
              <a:extLst>
                <a:ext uri="{FF2B5EF4-FFF2-40B4-BE49-F238E27FC236}">
                  <a16:creationId xmlns:a16="http://schemas.microsoft.com/office/drawing/2014/main" id="{B76AE8F0-AC6B-21AD-1763-4C619165B120}"/>
                </a:ext>
              </a:extLst>
            </p:cNvPr>
            <p:cNvSpPr txBox="1"/>
            <p:nvPr/>
          </p:nvSpPr>
          <p:spPr>
            <a:xfrm>
              <a:off x="1827185" y="4248312"/>
              <a:ext cx="1649811" cy="307777"/>
            </a:xfrm>
            <a:prstGeom prst="rect">
              <a:avLst/>
            </a:prstGeom>
            <a:noFill/>
          </p:spPr>
          <p:txBody>
            <a:bodyPr wrap="none" rtlCol="0">
              <a:spAutoFit/>
            </a:bodyPr>
            <a:lstStyle/>
            <a:p>
              <a:r>
                <a:rPr lang="en-US" sz="1400" dirty="0">
                  <a:solidFill>
                    <a:srgbClr val="F1BE48"/>
                  </a:solidFill>
                </a:rPr>
                <a:t>Proper Scoring Rule</a:t>
              </a:r>
            </a:p>
          </p:txBody>
        </p:sp>
        <p:sp>
          <p:nvSpPr>
            <p:cNvPr id="8" name="TextBox 7">
              <a:extLst>
                <a:ext uri="{FF2B5EF4-FFF2-40B4-BE49-F238E27FC236}">
                  <a16:creationId xmlns:a16="http://schemas.microsoft.com/office/drawing/2014/main" id="{D19AD599-4688-592F-752C-C5F74CC0C3E8}"/>
                </a:ext>
              </a:extLst>
            </p:cNvPr>
            <p:cNvSpPr txBox="1"/>
            <p:nvPr/>
          </p:nvSpPr>
          <p:spPr>
            <a:xfrm>
              <a:off x="1752600" y="2756843"/>
              <a:ext cx="1337226" cy="307777"/>
            </a:xfrm>
            <a:prstGeom prst="rect">
              <a:avLst/>
            </a:prstGeom>
            <a:noFill/>
          </p:spPr>
          <p:txBody>
            <a:bodyPr wrap="none" rtlCol="0">
              <a:spAutoFit/>
            </a:bodyPr>
            <a:lstStyle/>
            <a:p>
              <a:r>
                <a:rPr lang="en-US" sz="1400" dirty="0">
                  <a:solidFill>
                    <a:srgbClr val="F1BE48"/>
                  </a:solidFill>
                </a:rPr>
                <a:t>Discount Factor</a:t>
              </a:r>
            </a:p>
          </p:txBody>
        </p:sp>
        <p:sp>
          <p:nvSpPr>
            <p:cNvPr id="9" name="TextBox 8">
              <a:extLst>
                <a:ext uri="{FF2B5EF4-FFF2-40B4-BE49-F238E27FC236}">
                  <a16:creationId xmlns:a16="http://schemas.microsoft.com/office/drawing/2014/main" id="{C33BF23A-D83A-F2F6-F007-83992653DFCB}"/>
                </a:ext>
              </a:extLst>
            </p:cNvPr>
            <p:cNvSpPr txBox="1"/>
            <p:nvPr/>
          </p:nvSpPr>
          <p:spPr>
            <a:xfrm>
              <a:off x="3810000" y="3106433"/>
              <a:ext cx="1481496" cy="307777"/>
            </a:xfrm>
            <a:prstGeom prst="rect">
              <a:avLst/>
            </a:prstGeom>
            <a:noFill/>
          </p:spPr>
          <p:txBody>
            <a:bodyPr wrap="none" rtlCol="0">
              <a:spAutoFit/>
            </a:bodyPr>
            <a:lstStyle/>
            <a:p>
              <a:r>
                <a:rPr lang="en-US" sz="1400" dirty="0">
                  <a:solidFill>
                    <a:srgbClr val="F1BE48"/>
                  </a:solidFill>
                </a:rPr>
                <a:t>CDF of Ensemble</a:t>
              </a:r>
            </a:p>
          </p:txBody>
        </p:sp>
        <p:cxnSp>
          <p:nvCxnSpPr>
            <p:cNvPr id="13" name="Straight Arrow Connector 12">
              <a:extLst>
                <a:ext uri="{FF2B5EF4-FFF2-40B4-BE49-F238E27FC236}">
                  <a16:creationId xmlns:a16="http://schemas.microsoft.com/office/drawing/2014/main" id="{9BB1A30B-AD56-E8D5-A7B7-53843801E0B3}"/>
                </a:ext>
              </a:extLst>
            </p:cNvPr>
            <p:cNvCxnSpPr>
              <a:cxnSpLocks/>
            </p:cNvCxnSpPr>
            <p:nvPr/>
          </p:nvCxnSpPr>
          <p:spPr bwMode="auto">
            <a:xfrm flipH="1">
              <a:off x="3476996" y="3377577"/>
              <a:ext cx="333004" cy="184773"/>
            </a:xfrm>
            <a:prstGeom prst="straightConnector1">
              <a:avLst/>
            </a:prstGeom>
            <a:solidFill>
              <a:schemeClr val="accent1"/>
            </a:solidFill>
            <a:ln w="9525" cap="flat" cmpd="sng" algn="ctr">
              <a:solidFill>
                <a:srgbClr val="FFC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0DBCDCBF-1E7B-EEA2-4B64-4AE5717698C7}"/>
                </a:ext>
              </a:extLst>
            </p:cNvPr>
            <p:cNvCxnSpPr>
              <a:cxnSpLocks/>
            </p:cNvCxnSpPr>
            <p:nvPr/>
          </p:nvCxnSpPr>
          <p:spPr bwMode="auto">
            <a:xfrm flipV="1">
              <a:off x="2909702" y="3795813"/>
              <a:ext cx="180124" cy="452499"/>
            </a:xfrm>
            <a:prstGeom prst="straightConnector1">
              <a:avLst/>
            </a:prstGeom>
            <a:solidFill>
              <a:schemeClr val="accent1"/>
            </a:solidFill>
            <a:ln w="9525" cap="flat" cmpd="sng" algn="ctr">
              <a:solidFill>
                <a:srgbClr val="FFC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5BDE8DFD-8B8E-C233-58C6-4DB7CDCC5428}"/>
                </a:ext>
              </a:extLst>
            </p:cNvPr>
            <p:cNvCxnSpPr>
              <a:cxnSpLocks/>
            </p:cNvCxnSpPr>
            <p:nvPr/>
          </p:nvCxnSpPr>
          <p:spPr bwMode="auto">
            <a:xfrm>
              <a:off x="2653138" y="3131654"/>
              <a:ext cx="90062" cy="430696"/>
            </a:xfrm>
            <a:prstGeom prst="straightConnector1">
              <a:avLst/>
            </a:prstGeom>
            <a:solidFill>
              <a:schemeClr val="accent1"/>
            </a:solidFill>
            <a:ln w="9525" cap="flat" cmpd="sng" algn="ctr">
              <a:solidFill>
                <a:srgbClr val="FFC000"/>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C24D0BE8-7425-4164-32B1-2880A4C4E45F}"/>
                </a:ext>
              </a:extLst>
            </p:cNvPr>
            <p:cNvCxnSpPr>
              <a:cxnSpLocks/>
            </p:cNvCxnSpPr>
            <p:nvPr/>
          </p:nvCxnSpPr>
          <p:spPr bwMode="auto">
            <a:xfrm flipH="1" flipV="1">
              <a:off x="1600200" y="3814178"/>
              <a:ext cx="226985" cy="449102"/>
            </a:xfrm>
            <a:prstGeom prst="straightConnector1">
              <a:avLst/>
            </a:prstGeom>
            <a:solidFill>
              <a:schemeClr val="accent1"/>
            </a:solidFill>
            <a:ln w="9525" cap="flat" cmpd="sng" algn="ctr">
              <a:solidFill>
                <a:srgbClr val="FFC000"/>
              </a:solidFill>
              <a:prstDash val="solid"/>
              <a:round/>
              <a:headEnd type="none" w="med" len="med"/>
              <a:tailEnd type="triangle"/>
            </a:ln>
            <a:effectLst/>
          </p:spPr>
        </p:cxnSp>
      </p:grpSp>
    </p:spTree>
    <p:extLst>
      <p:ext uri="{BB962C8B-B14F-4D97-AF65-F5344CB8AC3E}">
        <p14:creationId xmlns:p14="http://schemas.microsoft.com/office/powerpoint/2010/main" val="2575488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A32F1-EDEA-21C8-E416-447A3865C5D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1DDAA65-1059-E6B3-5B16-07FE4B1D3C78}"/>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Simulation Study</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2BC76D2E-0340-D62B-BE67-6EDE6889EBAE}"/>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4" name="Picture 3" descr="A screenshot of a graph&#10;&#10;AI-generated content may be incorrect.">
            <a:extLst>
              <a:ext uri="{FF2B5EF4-FFF2-40B4-BE49-F238E27FC236}">
                <a16:creationId xmlns:a16="http://schemas.microsoft.com/office/drawing/2014/main" id="{018582E8-8E9F-F40F-64E5-185D5BC66174}"/>
              </a:ext>
            </a:extLst>
          </p:cNvPr>
          <p:cNvPicPr>
            <a:picLocks noChangeAspect="1"/>
          </p:cNvPicPr>
          <p:nvPr/>
        </p:nvPicPr>
        <p:blipFill>
          <a:blip r:embed="rId3"/>
          <a:stretch>
            <a:fillRect/>
          </a:stretch>
        </p:blipFill>
        <p:spPr>
          <a:xfrm>
            <a:off x="4419600" y="1208183"/>
            <a:ext cx="4495800" cy="3352208"/>
          </a:xfrm>
          <a:prstGeom prst="rect">
            <a:avLst/>
          </a:prstGeom>
        </p:spPr>
      </p:pic>
      <p:pic>
        <p:nvPicPr>
          <p:cNvPr id="3" name="Picture 2" descr="A graph of a function&#10;&#10;AI-generated content may be incorrect.">
            <a:extLst>
              <a:ext uri="{FF2B5EF4-FFF2-40B4-BE49-F238E27FC236}">
                <a16:creationId xmlns:a16="http://schemas.microsoft.com/office/drawing/2014/main" id="{14159DBE-3401-B458-7B45-87A6CCF2EE23}"/>
              </a:ext>
            </a:extLst>
          </p:cNvPr>
          <p:cNvPicPr>
            <a:picLocks noChangeAspect="1"/>
          </p:cNvPicPr>
          <p:nvPr/>
        </p:nvPicPr>
        <p:blipFill>
          <a:blip r:embed="rId4"/>
          <a:stretch>
            <a:fillRect/>
          </a:stretch>
        </p:blipFill>
        <p:spPr>
          <a:xfrm>
            <a:off x="228601" y="1252956"/>
            <a:ext cx="3944848" cy="2537994"/>
          </a:xfrm>
          <a:prstGeom prst="rect">
            <a:avLst/>
          </a:prstGeom>
        </p:spPr>
      </p:pic>
    </p:spTree>
    <p:extLst>
      <p:ext uri="{BB962C8B-B14F-4D97-AF65-F5344CB8AC3E}">
        <p14:creationId xmlns:p14="http://schemas.microsoft.com/office/powerpoint/2010/main" val="428318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F8F6B-6924-B989-0B64-187DFB11A34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AC6442E-E204-E125-17CB-5244A7E1B7D7}"/>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Simulation Study</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6408DBDA-B268-9FD8-68E0-FD98F6D17039}"/>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screenshot of a graph&#10;&#10;AI-generated content may be incorrect.">
            <a:extLst>
              <a:ext uri="{FF2B5EF4-FFF2-40B4-BE49-F238E27FC236}">
                <a16:creationId xmlns:a16="http://schemas.microsoft.com/office/drawing/2014/main" id="{D0681FDB-F90C-9444-7413-A712950B9C23}"/>
              </a:ext>
            </a:extLst>
          </p:cNvPr>
          <p:cNvPicPr>
            <a:picLocks noChangeAspect="1"/>
          </p:cNvPicPr>
          <p:nvPr/>
        </p:nvPicPr>
        <p:blipFill>
          <a:blip r:embed="rId3"/>
          <a:stretch>
            <a:fillRect/>
          </a:stretch>
        </p:blipFill>
        <p:spPr>
          <a:xfrm>
            <a:off x="604520" y="1266671"/>
            <a:ext cx="7772400" cy="3024666"/>
          </a:xfrm>
          <a:prstGeom prst="rect">
            <a:avLst/>
          </a:prstGeom>
        </p:spPr>
      </p:pic>
    </p:spTree>
    <p:extLst>
      <p:ext uri="{BB962C8B-B14F-4D97-AF65-F5344CB8AC3E}">
        <p14:creationId xmlns:p14="http://schemas.microsoft.com/office/powerpoint/2010/main" val="3346794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23D07-6F4E-A60A-D436-F8BDD3E50B9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732A1DE-7D09-4980-170C-2724F96923C0}"/>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Application</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86718626-202B-2AA6-80A4-D04ED1D3CB12}"/>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4" name="Picture 3" descr="A graph of different colored lines&#10;&#10;AI-generated content may be incorrect.">
            <a:extLst>
              <a:ext uri="{FF2B5EF4-FFF2-40B4-BE49-F238E27FC236}">
                <a16:creationId xmlns:a16="http://schemas.microsoft.com/office/drawing/2014/main" id="{9B4E1C56-24E5-A149-D283-50D3E594EC10}"/>
              </a:ext>
            </a:extLst>
          </p:cNvPr>
          <p:cNvPicPr>
            <a:picLocks noChangeAspect="1"/>
          </p:cNvPicPr>
          <p:nvPr/>
        </p:nvPicPr>
        <p:blipFill>
          <a:blip r:embed="rId3"/>
          <a:stretch>
            <a:fillRect/>
          </a:stretch>
        </p:blipFill>
        <p:spPr>
          <a:xfrm>
            <a:off x="577850" y="1231900"/>
            <a:ext cx="7772400" cy="2607275"/>
          </a:xfrm>
          <a:prstGeom prst="rect">
            <a:avLst/>
          </a:prstGeom>
        </p:spPr>
      </p:pic>
    </p:spTree>
    <p:extLst>
      <p:ext uri="{BB962C8B-B14F-4D97-AF65-F5344CB8AC3E}">
        <p14:creationId xmlns:p14="http://schemas.microsoft.com/office/powerpoint/2010/main" val="12380583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extBox 11"/>
          <p:cNvSpPr txBox="1"/>
          <p:nvPr/>
        </p:nvSpPr>
        <p:spPr>
          <a:xfrm>
            <a:off x="604520" y="1383090"/>
            <a:ext cx="4729480" cy="2677656"/>
          </a:xfrm>
          <a:prstGeom prst="rect">
            <a:avLst/>
          </a:prstGeom>
          <a:noFill/>
        </p:spPr>
        <p:txBody>
          <a:bodyPr wrap="square" rtlCol="0">
            <a:spAutoFit/>
          </a:bodyPr>
          <a:lstStyle/>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rPr>
              <a:t>This is a content page with a sidebar photo on the right-hand side. This type of page is useful for larger bodies of text, namely paragraph length pieces. Use this type of page for certain types of content such as extended quotes, introductory paragraphs for presentations, and other long-format pieces when absolutely necessary.</a:t>
            </a:r>
          </a:p>
        </p:txBody>
      </p:sp>
      <p:sp>
        <p:nvSpPr>
          <p:cNvPr id="13" name="TextBox 12"/>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Section Title</a:t>
            </a:r>
            <a:endParaRPr lang="en-US" sz="2200" dirty="0">
              <a:solidFill>
                <a:srgbClr val="C8102E"/>
              </a:solidFill>
            </a:endParaRPr>
          </a:p>
        </p:txBody>
      </p:sp>
      <p:cxnSp>
        <p:nvCxnSpPr>
          <p:cNvPr id="19" name="Straight Connector 18"/>
          <p:cNvCxnSpPr/>
          <p:nvPr/>
        </p:nvCxnSpPr>
        <p:spPr bwMode="auto">
          <a:xfrm>
            <a:off x="685800" y="1123950"/>
            <a:ext cx="46482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cxnSp>
        <p:nvCxnSpPr>
          <p:cNvPr id="27" name="Straight Connector 26"/>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14" name="Rectangle 13"/>
          <p:cNvSpPr/>
          <p:nvPr/>
        </p:nvSpPr>
        <p:spPr bwMode="auto">
          <a:xfrm>
            <a:off x="6053328" y="0"/>
            <a:ext cx="3090672" cy="4636008"/>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Tree>
    <p:extLst>
      <p:ext uri="{BB962C8B-B14F-4D97-AF65-F5344CB8AC3E}">
        <p14:creationId xmlns:p14="http://schemas.microsoft.com/office/powerpoint/2010/main" val="980877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19" name="Straight Connector 18"/>
          <p:cNvCxnSpPr/>
          <p:nvPr/>
        </p:nvCxnSpPr>
        <p:spPr bwMode="auto">
          <a:xfrm>
            <a:off x="685800" y="1123950"/>
            <a:ext cx="76200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
        <p:nvSpPr>
          <p:cNvPr id="20" name="TextBox 19"/>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Section Title</a:t>
            </a:r>
            <a:endParaRPr lang="en-US" sz="2200" dirty="0">
              <a:solidFill>
                <a:srgbClr val="C8102E"/>
              </a:solidFill>
            </a:endParaRPr>
          </a:p>
        </p:txBody>
      </p:sp>
      <p:sp>
        <p:nvSpPr>
          <p:cNvPr id="21" name="TextBox 20"/>
          <p:cNvSpPr txBox="1"/>
          <p:nvPr/>
        </p:nvSpPr>
        <p:spPr>
          <a:xfrm>
            <a:off x="604520" y="1383090"/>
            <a:ext cx="7701280" cy="2308324"/>
          </a:xfrm>
          <a:prstGeom prst="rect">
            <a:avLst/>
          </a:prstGeom>
          <a:noFill/>
        </p:spPr>
        <p:txBody>
          <a:bodyPr wrap="square" rtlCol="0">
            <a:spAutoFit/>
          </a:bodyPr>
          <a:lstStyle/>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rPr>
              <a:t>This is a normal content page. This type of page is useful for bulleted lists.</a:t>
            </a:r>
          </a:p>
          <a:p>
            <a:pPr>
              <a:lnSpc>
                <a:spcPct val="150000"/>
              </a:lnSpc>
              <a:spcBef>
                <a:spcPts val="0"/>
              </a:spcBef>
            </a:pPr>
            <a:endParaRPr lang="en-US" sz="1600" dirty="0">
              <a:solidFill>
                <a:srgbClr val="7A6E67"/>
              </a:solidFill>
              <a:latin typeface="ITC Berkeley Oldstyle Medium" charset="0"/>
              <a:ea typeface="ITC Berkeley Oldstyle Medium" charset="0"/>
              <a:cs typeface="ITC Berkeley Oldstyle Medium" charset="0"/>
            </a:endParaRP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rPr>
              <a:t>Information for bullet one</a:t>
            </a: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rPr>
              <a:t>Information for bullet two</a:t>
            </a: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rPr>
              <a:t>Information for bullet three</a:t>
            </a: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rPr>
              <a:t>Information for bullet four</a:t>
            </a:r>
          </a:p>
        </p:txBody>
      </p:sp>
      <p:cxnSp>
        <p:nvCxnSpPr>
          <p:cNvPr id="25" name="Straight Connector 24"/>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Tree>
    <p:extLst>
      <p:ext uri="{BB962C8B-B14F-4D97-AF65-F5344CB8AC3E}">
        <p14:creationId xmlns:p14="http://schemas.microsoft.com/office/powerpoint/2010/main" val="1874946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p:cNvSpPr/>
          <p:nvPr/>
        </p:nvSpPr>
        <p:spPr bwMode="auto">
          <a:xfrm>
            <a:off x="0" y="0"/>
            <a:ext cx="9144000" cy="4636008"/>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7" name="Rectangle 8"/>
          <p:cNvSpPr>
            <a:spLocks noChangeArrowheads="1"/>
          </p:cNvSpPr>
          <p:nvPr/>
        </p:nvSpPr>
        <p:spPr bwMode="auto">
          <a:xfrm>
            <a:off x="-1" y="2247928"/>
            <a:ext cx="9157547" cy="1062019"/>
          </a:xfrm>
          <a:prstGeom prst="rect">
            <a:avLst/>
          </a:prstGeom>
          <a:solidFill>
            <a:srgbClr val="C8102E">
              <a:alpha val="90000"/>
            </a:srgbClr>
          </a:solidFill>
          <a:ln w="9525">
            <a:noFill/>
            <a:miter lim="800000"/>
            <a:headEnd/>
            <a:tailEnd/>
          </a:ln>
          <a:effectLst/>
        </p:spPr>
        <p:txBody>
          <a:bodyPr wrap="none" anchor="ctr">
            <a:prstTxWarp prst="textNoShape">
              <a:avLst/>
            </a:prstTxWarp>
          </a:bodyPr>
          <a:lstStyle/>
          <a:p>
            <a:endParaRPr lang="en-US" dirty="0">
              <a:solidFill>
                <a:srgbClr val="C8102E"/>
              </a:solidFill>
            </a:endParaRPr>
          </a:p>
        </p:txBody>
      </p:sp>
      <p:sp>
        <p:nvSpPr>
          <p:cNvPr id="8" name="TextBox 7"/>
          <p:cNvSpPr txBox="1"/>
          <p:nvPr/>
        </p:nvSpPr>
        <p:spPr>
          <a:xfrm>
            <a:off x="462280" y="2435016"/>
            <a:ext cx="8224520" cy="646331"/>
          </a:xfrm>
          <a:prstGeom prst="rect">
            <a:avLst/>
          </a:prstGeom>
          <a:noFill/>
        </p:spPr>
        <p:txBody>
          <a:bodyPr wrap="square" rtlCol="0">
            <a:spAutoFit/>
          </a:bodyPr>
          <a:lstStyle/>
          <a:p>
            <a:pPr>
              <a:spcBef>
                <a:spcPts val="0"/>
              </a:spcBef>
            </a:pPr>
            <a:r>
              <a:rPr lang="en-US" sz="1800" i="1" dirty="0">
                <a:solidFill>
                  <a:srgbClr val="F1BE48"/>
                </a:solidFill>
                <a:latin typeface="ITC Berkeley Oldstyle" charset="0"/>
                <a:ea typeface="ITC Berkeley Oldstyle" charset="0"/>
                <a:cs typeface="ITC Berkeley Oldstyle" charset="0"/>
              </a:rPr>
              <a:t>“This area is meant to be used for a quote/information of emphasis, preferably no more than two full length sentences.” – Quote Reference Here</a:t>
            </a:r>
          </a:p>
        </p:txBody>
      </p:sp>
      <p:cxnSp>
        <p:nvCxnSpPr>
          <p:cNvPr id="11" name="Straight Connector 10"/>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2" name="TextBox 1"/>
          <p:cNvSpPr txBox="1"/>
          <p:nvPr/>
        </p:nvSpPr>
        <p:spPr>
          <a:xfrm>
            <a:off x="466762" y="921867"/>
            <a:ext cx="4876800" cy="461665"/>
          </a:xfrm>
          <a:prstGeom prst="rect">
            <a:avLst/>
          </a:prstGeom>
          <a:noFill/>
        </p:spPr>
        <p:txBody>
          <a:bodyPr wrap="square" rtlCol="0">
            <a:spAutoFit/>
          </a:bodyPr>
          <a:lstStyle/>
          <a:p>
            <a:r>
              <a:rPr lang="en-US" dirty="0">
                <a:solidFill>
                  <a:srgbClr val="92D050"/>
                </a:solidFill>
                <a:latin typeface="+mj-lt"/>
              </a:rPr>
              <a:t>Insert background </a:t>
            </a:r>
            <a:r>
              <a:rPr lang="en-US">
                <a:solidFill>
                  <a:srgbClr val="92D050"/>
                </a:solidFill>
                <a:latin typeface="+mj-lt"/>
              </a:rPr>
              <a:t>photo in gray area</a:t>
            </a:r>
            <a:endParaRPr lang="en-US" dirty="0">
              <a:solidFill>
                <a:srgbClr val="92D050"/>
              </a:solidFill>
              <a:latin typeface="+mj-lt"/>
            </a:endParaRPr>
          </a:p>
        </p:txBody>
      </p:sp>
    </p:spTree>
    <p:extLst>
      <p:ext uri="{BB962C8B-B14F-4D97-AF65-F5344CB8AC3E}">
        <p14:creationId xmlns:p14="http://schemas.microsoft.com/office/powerpoint/2010/main" val="1675495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04520" y="1276350"/>
            <a:ext cx="3967480" cy="2162387"/>
          </a:xfrm>
          <a:prstGeom prst="rect">
            <a:avLst/>
          </a:prstGeom>
          <a:solidFill>
            <a:schemeClr val="bg1"/>
          </a:solidFill>
        </p:spPr>
        <p:txBody>
          <a:bodyPr wrap="square" rtlCol="0">
            <a:spAutoFit/>
          </a:bodyPr>
          <a:lstStyle/>
          <a:p>
            <a:pPr>
              <a:spcBef>
                <a:spcPts val="0"/>
              </a:spcBef>
            </a:pPr>
            <a:r>
              <a:rPr lang="en-US" sz="1600" b="1" dirty="0">
                <a:solidFill>
                  <a:srgbClr val="C8102E"/>
                </a:solidFill>
                <a:latin typeface="Univers 75 Black" charset="0"/>
                <a:ea typeface="Univers 75 Black" charset="0"/>
                <a:cs typeface="Univers 75 Black" charset="0"/>
              </a:rPr>
              <a:t>Jarad Niemi</a:t>
            </a:r>
          </a:p>
          <a:p>
            <a:pPr>
              <a:spcBef>
                <a:spcPts val="0"/>
              </a:spcBef>
            </a:pPr>
            <a:r>
              <a:rPr lang="en-US" sz="1400" i="1" dirty="0">
                <a:solidFill>
                  <a:srgbClr val="ACA39A"/>
                </a:solidFill>
                <a:latin typeface="Univers 55 Oblique" charset="0"/>
                <a:ea typeface="Univers 55 Oblique" charset="0"/>
                <a:cs typeface="Univers 55 Oblique" charset="0"/>
              </a:rPr>
              <a:t>Professor of Statistics</a:t>
            </a:r>
          </a:p>
          <a:p>
            <a:pPr>
              <a:spcBef>
                <a:spcPts val="0"/>
              </a:spcBef>
            </a:pPr>
            <a:r>
              <a:rPr lang="en-US" sz="1400" i="1" dirty="0">
                <a:solidFill>
                  <a:srgbClr val="ACA39A"/>
                </a:solidFill>
                <a:latin typeface="Univers 55 Oblique" charset="0"/>
                <a:ea typeface="Univers 55 Oblique" charset="0"/>
                <a:cs typeface="Univers 55 Oblique" charset="0"/>
              </a:rPr>
              <a:t>Professor in Charge of Data Science</a:t>
            </a:r>
          </a:p>
          <a:p>
            <a:pPr>
              <a:lnSpc>
                <a:spcPct val="150000"/>
              </a:lnSpc>
              <a:spcBef>
                <a:spcPts val="0"/>
              </a:spcBef>
            </a:pPr>
            <a:endParaRPr lang="en-US" sz="1400" b="1" dirty="0">
              <a:solidFill>
                <a:srgbClr val="C8102E"/>
              </a:solidFill>
              <a:latin typeface="Univers 75 Black" charset="0"/>
              <a:ea typeface="Univers 75 Black" charset="0"/>
              <a:cs typeface="Univers 75 Black" charset="0"/>
            </a:endParaRPr>
          </a:p>
          <a:p>
            <a:pPr>
              <a:lnSpc>
                <a:spcPct val="150000"/>
              </a:lnSpc>
              <a:spcBef>
                <a:spcPts val="0"/>
              </a:spcBef>
            </a:pPr>
            <a:r>
              <a:rPr lang="en-US" sz="1600" dirty="0" err="1">
                <a:solidFill>
                  <a:srgbClr val="7A6E67"/>
                </a:solidFill>
                <a:latin typeface="Univers 47 Condensed Light" charset="0"/>
                <a:ea typeface="Univers 47 Condensed Light" charset="0"/>
                <a:cs typeface="Univers 47 Condensed Light" charset="0"/>
              </a:rPr>
              <a:t>niemi@iastate.edu</a:t>
            </a:r>
            <a:endParaRPr lang="en-US" sz="1600" dirty="0">
              <a:solidFill>
                <a:srgbClr val="7A6E67"/>
              </a:solidFill>
              <a:latin typeface="Univers 47 Condensed Light" charset="0"/>
              <a:ea typeface="Univers 47 Condensed Light" charset="0"/>
              <a:cs typeface="Univers 47 Condensed Light" charset="0"/>
            </a:endParaRPr>
          </a:p>
          <a:p>
            <a:pPr>
              <a:lnSpc>
                <a:spcPct val="150000"/>
              </a:lnSpc>
              <a:spcBef>
                <a:spcPts val="0"/>
              </a:spcBef>
            </a:pPr>
            <a:r>
              <a:rPr lang="en-US" sz="1600" dirty="0">
                <a:solidFill>
                  <a:srgbClr val="7A6E67"/>
                </a:solidFill>
                <a:latin typeface="Univers 47 Condensed Light" charset="0"/>
                <a:ea typeface="Univers 47 Condensed Light" charset="0"/>
                <a:cs typeface="Univers 47 Condensed Light" charset="0"/>
              </a:rPr>
              <a:t>(515)-294-8679</a:t>
            </a:r>
          </a:p>
          <a:p>
            <a:pPr>
              <a:lnSpc>
                <a:spcPct val="150000"/>
              </a:lnSpc>
              <a:spcBef>
                <a:spcPts val="0"/>
              </a:spcBef>
            </a:pPr>
            <a:r>
              <a:rPr lang="en-US" sz="1600" dirty="0" err="1">
                <a:solidFill>
                  <a:srgbClr val="7A6E67"/>
                </a:solidFill>
                <a:latin typeface="Univers 47 Condensed Light" charset="0"/>
                <a:ea typeface="Univers 47 Condensed Light" charset="0"/>
                <a:cs typeface="Univers 47 Condensed Light" charset="0"/>
              </a:rPr>
              <a:t>www.stat.iastate.edu</a:t>
            </a:r>
            <a:r>
              <a:rPr lang="en-US" sz="1600" dirty="0">
                <a:solidFill>
                  <a:srgbClr val="7A6E67"/>
                </a:solidFill>
                <a:latin typeface="Univers 47 Condensed Light" charset="0"/>
                <a:ea typeface="Univers 47 Condensed Light" charset="0"/>
                <a:cs typeface="Univers 47 Condensed Light" charset="0"/>
              </a:rPr>
              <a:t>/people/</a:t>
            </a:r>
            <a:r>
              <a:rPr lang="en-US" sz="1600" dirty="0" err="1">
                <a:solidFill>
                  <a:srgbClr val="7A6E67"/>
                </a:solidFill>
                <a:latin typeface="Univers 47 Condensed Light" charset="0"/>
                <a:ea typeface="Univers 47 Condensed Light" charset="0"/>
                <a:cs typeface="Univers 47 Condensed Light" charset="0"/>
              </a:rPr>
              <a:t>jarad-niemi</a:t>
            </a:r>
            <a:endParaRPr lang="en-US" sz="1600" dirty="0">
              <a:solidFill>
                <a:srgbClr val="7A6E67"/>
              </a:solidFill>
              <a:latin typeface="Univers 47 Condensed Light" charset="0"/>
              <a:ea typeface="Univers 47 Condensed Light" charset="0"/>
              <a:cs typeface="Univers 47 Condensed Light" charset="0"/>
            </a:endParaRPr>
          </a:p>
        </p:txBody>
      </p:sp>
      <p:sp>
        <p:nvSpPr>
          <p:cNvPr id="8" name="TextBox 7"/>
          <p:cNvSpPr txBox="1"/>
          <p:nvPr/>
        </p:nvSpPr>
        <p:spPr>
          <a:xfrm>
            <a:off x="604519" y="583109"/>
            <a:ext cx="7750185" cy="800219"/>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Thank You</a:t>
            </a:r>
          </a:p>
          <a:p>
            <a:endParaRPr lang="en-US" dirty="0"/>
          </a:p>
        </p:txBody>
      </p:sp>
      <p:cxnSp>
        <p:nvCxnSpPr>
          <p:cNvPr id="10" name="Straight Connector 9"/>
          <p:cNvCxnSpPr/>
          <p:nvPr/>
        </p:nvCxnSpPr>
        <p:spPr bwMode="auto">
          <a:xfrm>
            <a:off x="685800" y="1123950"/>
            <a:ext cx="76200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cxnSp>
        <p:nvCxnSpPr>
          <p:cNvPr id="21" name="Straight Connector 20"/>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11" name="TextBox 10"/>
          <p:cNvSpPr txBox="1"/>
          <p:nvPr/>
        </p:nvSpPr>
        <p:spPr>
          <a:xfrm>
            <a:off x="4724395" y="1276350"/>
            <a:ext cx="4419605" cy="2162387"/>
          </a:xfrm>
          <a:prstGeom prst="rect">
            <a:avLst/>
          </a:prstGeom>
          <a:solidFill>
            <a:schemeClr val="bg1"/>
          </a:solidFill>
        </p:spPr>
        <p:txBody>
          <a:bodyPr wrap="square" rtlCol="0">
            <a:spAutoFit/>
          </a:bodyPr>
          <a:lstStyle/>
          <a:p>
            <a:pPr>
              <a:spcBef>
                <a:spcPts val="0"/>
              </a:spcBef>
            </a:pPr>
            <a:r>
              <a:rPr lang="en-US" sz="1600" b="1" dirty="0">
                <a:solidFill>
                  <a:srgbClr val="C8102E"/>
                </a:solidFill>
                <a:latin typeface="Univers 75 Black" charset="0"/>
                <a:ea typeface="Univers 75 Black" charset="0"/>
                <a:cs typeface="Univers 75 Black" charset="0"/>
              </a:rPr>
              <a:t>Spencer Wadsworth</a:t>
            </a:r>
          </a:p>
          <a:p>
            <a:pPr>
              <a:spcBef>
                <a:spcPts val="0"/>
              </a:spcBef>
            </a:pPr>
            <a:r>
              <a:rPr lang="en-US" sz="1400" i="1" dirty="0">
                <a:solidFill>
                  <a:srgbClr val="ACA39A"/>
                </a:solidFill>
                <a:latin typeface="Univers 55 Oblique" charset="0"/>
                <a:ea typeface="Univers 55 Oblique" charset="0"/>
                <a:cs typeface="Univers 55 Oblique" charset="0"/>
              </a:rPr>
              <a:t>Visiting Assistant Professor at Carleton College</a:t>
            </a:r>
          </a:p>
          <a:p>
            <a:pPr>
              <a:spcBef>
                <a:spcPts val="0"/>
              </a:spcBef>
            </a:pPr>
            <a:r>
              <a:rPr lang="en-US" sz="1400" i="1" dirty="0">
                <a:solidFill>
                  <a:srgbClr val="ACA39A"/>
                </a:solidFill>
                <a:latin typeface="Univers 55 Oblique" charset="0"/>
                <a:ea typeface="Univers 55 Oblique" charset="0"/>
                <a:cs typeface="Univers 55 Oblique" charset="0"/>
              </a:rPr>
              <a:t>Postdoctoral Associate w/ Ofer Harel (UConn)</a:t>
            </a:r>
          </a:p>
          <a:p>
            <a:pPr>
              <a:lnSpc>
                <a:spcPct val="150000"/>
              </a:lnSpc>
              <a:spcBef>
                <a:spcPts val="0"/>
              </a:spcBef>
            </a:pPr>
            <a:endParaRPr lang="en-US" sz="1400" b="1" dirty="0">
              <a:solidFill>
                <a:srgbClr val="C8102E"/>
              </a:solidFill>
              <a:latin typeface="Univers 75 Black" charset="0"/>
              <a:ea typeface="Univers 75 Black" charset="0"/>
              <a:cs typeface="Univers 75 Black" charset="0"/>
            </a:endParaRPr>
          </a:p>
          <a:p>
            <a:pPr>
              <a:lnSpc>
                <a:spcPct val="150000"/>
              </a:lnSpc>
              <a:spcBef>
                <a:spcPts val="0"/>
              </a:spcBef>
            </a:pPr>
            <a:r>
              <a:rPr lang="en-US" sz="1600" dirty="0">
                <a:solidFill>
                  <a:srgbClr val="7A6E67"/>
                </a:solidFill>
                <a:latin typeface="Univers 47 Condensed Light" charset="0"/>
                <a:ea typeface="Univers 47 Condensed Light" charset="0"/>
                <a:cs typeface="Univers 47 Condensed Light" charset="0"/>
              </a:rPr>
              <a:t>sgw96@iastate.edu</a:t>
            </a:r>
          </a:p>
          <a:p>
            <a:pPr>
              <a:lnSpc>
                <a:spcPct val="150000"/>
              </a:lnSpc>
              <a:spcBef>
                <a:spcPts val="0"/>
              </a:spcBef>
            </a:pPr>
            <a:endParaRPr lang="en-US" sz="1600" dirty="0">
              <a:solidFill>
                <a:srgbClr val="7A6E67"/>
              </a:solidFill>
              <a:latin typeface="Univers 47 Condensed Light" charset="0"/>
              <a:ea typeface="Univers 47 Condensed Light" charset="0"/>
              <a:cs typeface="Univers 47 Condensed Light" charset="0"/>
            </a:endParaRPr>
          </a:p>
          <a:p>
            <a:pPr>
              <a:lnSpc>
                <a:spcPct val="150000"/>
              </a:lnSpc>
              <a:spcBef>
                <a:spcPts val="0"/>
              </a:spcBef>
            </a:pPr>
            <a:r>
              <a:rPr lang="en-US" sz="1600" dirty="0" err="1">
                <a:solidFill>
                  <a:srgbClr val="7A6E67"/>
                </a:solidFill>
                <a:latin typeface="Univers 47 Condensed Light" charset="0"/>
                <a:ea typeface="Univers 47 Condensed Light" charset="0"/>
                <a:cs typeface="Univers 47 Condensed Light" charset="0"/>
              </a:rPr>
              <a:t>www.stat.iastate.edu</a:t>
            </a:r>
            <a:r>
              <a:rPr lang="en-US" sz="1600" dirty="0">
                <a:solidFill>
                  <a:srgbClr val="7A6E67"/>
                </a:solidFill>
                <a:latin typeface="Univers 47 Condensed Light" charset="0"/>
                <a:ea typeface="Univers 47 Condensed Light" charset="0"/>
                <a:cs typeface="Univers 47 Condensed Light" charset="0"/>
              </a:rPr>
              <a:t>/people/spencer-</a:t>
            </a:r>
            <a:r>
              <a:rPr lang="en-US" sz="1600" dirty="0" err="1">
                <a:solidFill>
                  <a:srgbClr val="7A6E67"/>
                </a:solidFill>
                <a:latin typeface="Univers 47 Condensed Light" charset="0"/>
                <a:ea typeface="Univers 47 Condensed Light" charset="0"/>
                <a:cs typeface="Univers 47 Condensed Light" charset="0"/>
              </a:rPr>
              <a:t>wadsworth</a:t>
            </a:r>
            <a:endParaRPr lang="en-US" sz="1600" dirty="0">
              <a:solidFill>
                <a:srgbClr val="7A6E67"/>
              </a:solidFill>
              <a:latin typeface="Univers 47 Condensed Light" charset="0"/>
              <a:ea typeface="Univers 47 Condensed Light" charset="0"/>
              <a:cs typeface="Univers 47 Condensed Light" charset="0"/>
            </a:endParaRPr>
          </a:p>
        </p:txBody>
      </p:sp>
      <p:cxnSp>
        <p:nvCxnSpPr>
          <p:cNvPr id="12" name="Straight Connector 11"/>
          <p:cNvCxnSpPr>
            <a:cxnSpLocks/>
          </p:cNvCxnSpPr>
          <p:nvPr/>
        </p:nvCxnSpPr>
        <p:spPr bwMode="auto">
          <a:xfrm>
            <a:off x="4724400" y="1134397"/>
            <a:ext cx="0" cy="2317496"/>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
        <p:nvSpPr>
          <p:cNvPr id="4" name="TextBox 3">
            <a:extLst>
              <a:ext uri="{FF2B5EF4-FFF2-40B4-BE49-F238E27FC236}">
                <a16:creationId xmlns:a16="http://schemas.microsoft.com/office/drawing/2014/main" id="{298DB14E-BD81-8DB6-F679-A9C31B2240D7}"/>
              </a:ext>
            </a:extLst>
          </p:cNvPr>
          <p:cNvSpPr txBox="1"/>
          <p:nvPr/>
        </p:nvSpPr>
        <p:spPr>
          <a:xfrm>
            <a:off x="604519" y="3983294"/>
            <a:ext cx="7599260" cy="369332"/>
          </a:xfrm>
          <a:prstGeom prst="rect">
            <a:avLst/>
          </a:prstGeom>
          <a:noFill/>
        </p:spPr>
        <p:txBody>
          <a:bodyPr wrap="none" rtlCol="0">
            <a:spAutoFit/>
          </a:bodyPr>
          <a:lstStyle/>
          <a:p>
            <a:r>
              <a:rPr lang="en-US" sz="1800" dirty="0">
                <a:solidFill>
                  <a:srgbClr val="F1BE48"/>
                </a:solidFill>
              </a:rPr>
              <a:t>Spencer’s Dissertation: https://</a:t>
            </a:r>
            <a:r>
              <a:rPr lang="en-US" sz="1800" dirty="0" err="1">
                <a:solidFill>
                  <a:srgbClr val="F1BE48"/>
                </a:solidFill>
              </a:rPr>
              <a:t>dr.lib.iastate.edu</a:t>
            </a:r>
            <a:r>
              <a:rPr lang="en-US" sz="1800" dirty="0">
                <a:solidFill>
                  <a:srgbClr val="F1BE48"/>
                </a:solidFill>
              </a:rPr>
              <a:t>/handle/20.500.12876/jw27nbOv</a:t>
            </a:r>
          </a:p>
        </p:txBody>
      </p:sp>
    </p:spTree>
    <p:extLst>
      <p:ext uri="{BB962C8B-B14F-4D97-AF65-F5344CB8AC3E}">
        <p14:creationId xmlns:p14="http://schemas.microsoft.com/office/powerpoint/2010/main" val="1453149747"/>
      </p:ext>
    </p:extLst>
  </p:cSld>
  <p:clrMapOvr>
    <a:masterClrMapping/>
  </p:clrMapOvr>
</p:sld>
</file>

<file path=ppt/theme/theme1.xml><?xml version="1.0" encoding="utf-8"?>
<a:theme xmlns:a="http://schemas.openxmlformats.org/drawingml/2006/main" name="PowerPoint">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Univers 67 CondensedBold"/>
        <a:ea typeface=""/>
        <a:cs typeface=""/>
      </a:majorFont>
      <a:minorFont>
        <a:latin typeface="Univers 67 Condensed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Widescreen-WithNumbers_2A" id="{CC13C5E8-C143-B944-BA97-1527C21DCBC9}" vid="{EEBF89D1-1DB3-9E46-A86B-BE71188432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PowerPoint</Template>
  <TotalTime>1503</TotalTime>
  <Words>665</Words>
  <Application>Microsoft Macintosh PowerPoint</Application>
  <PresentationFormat>On-screen Show (16:9)</PresentationFormat>
  <Paragraphs>122</Paragraphs>
  <Slides>29</Slides>
  <Notes>22</Notes>
  <HiddenSlides>8</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Calibri</vt:lpstr>
      <vt:lpstr>ITC Berkeley Oldstyle</vt:lpstr>
      <vt:lpstr>ITC Berkeley Oldstyle Book</vt:lpstr>
      <vt:lpstr>ITC Berkeley Oldstyle Medium</vt:lpstr>
      <vt:lpstr>Times</vt:lpstr>
      <vt:lpstr>Univers 47 Condensed Light</vt:lpstr>
      <vt:lpstr>Univers 55 Oblique</vt:lpstr>
      <vt:lpstr>Univers 57 Condensed</vt:lpstr>
      <vt:lpstr>Univers 67 CondensedBold</vt:lpstr>
      <vt:lpstr>Univers 75 Black</vt:lpstr>
      <vt:lpstr>PowerPoint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Niemi, Jarad [STAT]</dc:creator>
  <cp:lastModifiedBy>Niemi, Jarad [STAT]</cp:lastModifiedBy>
  <cp:revision>6</cp:revision>
  <cp:lastPrinted>2019-02-08T13:46:09Z</cp:lastPrinted>
  <dcterms:created xsi:type="dcterms:W3CDTF">2025-04-28T16:35:52Z</dcterms:created>
  <dcterms:modified xsi:type="dcterms:W3CDTF">2025-05-02T19:00:25Z</dcterms:modified>
</cp:coreProperties>
</file>